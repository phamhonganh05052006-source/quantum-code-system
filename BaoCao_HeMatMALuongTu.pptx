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67" r:id="rId11"/>
    <p:sldId id="266" r:id="rId12"/>
    <p:sldId id="265"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B2BE08-8E19-4484-8F39-10BE13D123C6}" v="24" dt="2026-07-01T04:12:56.6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ồng Anh Phạm" userId="20855c2757e872f0" providerId="LiveId" clId="{09A0EC16-0746-401F-9FD5-3EA9F7F985B6}"/>
    <pc:docChg chg="undo custSel addSld modSld sldOrd">
      <pc:chgData name="Hồng Anh Phạm" userId="20855c2757e872f0" providerId="LiveId" clId="{09A0EC16-0746-401F-9FD5-3EA9F7F985B6}" dt="2026-07-01T04:13:08.935" v="277" actId="1076"/>
      <pc:docMkLst>
        <pc:docMk/>
      </pc:docMkLst>
      <pc:sldChg chg="modSp mod">
        <pc:chgData name="Hồng Anh Phạm" userId="20855c2757e872f0" providerId="LiveId" clId="{09A0EC16-0746-401F-9FD5-3EA9F7F985B6}" dt="2026-07-01T03:41:15.337" v="6" actId="207"/>
        <pc:sldMkLst>
          <pc:docMk/>
          <pc:sldMk cId="479266554" sldId="271"/>
        </pc:sldMkLst>
        <pc:spChg chg="mod">
          <ac:chgData name="Hồng Anh Phạm" userId="20855c2757e872f0" providerId="LiveId" clId="{09A0EC16-0746-401F-9FD5-3EA9F7F985B6}" dt="2026-07-01T03:41:15.337" v="6" actId="207"/>
          <ac:spMkLst>
            <pc:docMk/>
            <pc:sldMk cId="479266554" sldId="271"/>
            <ac:spMk id="8" creationId="{45E79D63-0B88-0508-7FFC-1259EC9C149E}"/>
          </ac:spMkLst>
        </pc:spChg>
      </pc:sldChg>
      <pc:sldChg chg="addSp modSp new mod">
        <pc:chgData name="Hồng Anh Phạm" userId="20855c2757e872f0" providerId="LiveId" clId="{09A0EC16-0746-401F-9FD5-3EA9F7F985B6}" dt="2026-07-01T03:48:36.002" v="60" actId="1076"/>
        <pc:sldMkLst>
          <pc:docMk/>
          <pc:sldMk cId="699250313" sldId="272"/>
        </pc:sldMkLst>
        <pc:spChg chg="mod">
          <ac:chgData name="Hồng Anh Phạm" userId="20855c2757e872f0" providerId="LiveId" clId="{09A0EC16-0746-401F-9FD5-3EA9F7F985B6}" dt="2026-07-01T03:41:58.125" v="13" actId="2711"/>
          <ac:spMkLst>
            <pc:docMk/>
            <pc:sldMk cId="699250313" sldId="272"/>
            <ac:spMk id="2" creationId="{895A6E6A-72E8-7149-CC96-58649D65E8DF}"/>
          </ac:spMkLst>
        </pc:spChg>
        <pc:spChg chg="mod">
          <ac:chgData name="Hồng Anh Phạm" userId="20855c2757e872f0" providerId="LiveId" clId="{09A0EC16-0746-401F-9FD5-3EA9F7F985B6}" dt="2026-07-01T03:48:36.002" v="60" actId="1076"/>
          <ac:spMkLst>
            <pc:docMk/>
            <pc:sldMk cId="699250313" sldId="272"/>
            <ac:spMk id="3" creationId="{EA30534E-6AB8-F861-07DE-93BB103BA959}"/>
          </ac:spMkLst>
        </pc:spChg>
        <pc:spChg chg="add mod">
          <ac:chgData name="Hồng Anh Phạm" userId="20855c2757e872f0" providerId="LiveId" clId="{09A0EC16-0746-401F-9FD5-3EA9F7F985B6}" dt="2026-07-01T03:47:37.923" v="53" actId="1076"/>
          <ac:spMkLst>
            <pc:docMk/>
            <pc:sldMk cId="699250313" sldId="272"/>
            <ac:spMk id="8" creationId="{791A921D-F04C-A529-639E-BBB38A3F3682}"/>
          </ac:spMkLst>
        </pc:spChg>
        <pc:spChg chg="add mod">
          <ac:chgData name="Hồng Anh Phạm" userId="20855c2757e872f0" providerId="LiveId" clId="{09A0EC16-0746-401F-9FD5-3EA9F7F985B6}" dt="2026-07-01T03:47:12.269" v="49" actId="1076"/>
          <ac:spMkLst>
            <pc:docMk/>
            <pc:sldMk cId="699250313" sldId="272"/>
            <ac:spMk id="10" creationId="{53F367C1-9C54-DC85-EE5E-23900EAB81E3}"/>
          </ac:spMkLst>
        </pc:spChg>
        <pc:spChg chg="add mod">
          <ac:chgData name="Hồng Anh Phạm" userId="20855c2757e872f0" providerId="LiveId" clId="{09A0EC16-0746-401F-9FD5-3EA9F7F985B6}" dt="2026-07-01T03:48:00.170" v="55" actId="1076"/>
          <ac:spMkLst>
            <pc:docMk/>
            <pc:sldMk cId="699250313" sldId="272"/>
            <ac:spMk id="12" creationId="{666D2F0C-98FE-15E2-1F15-7633A84C7992}"/>
          </ac:spMkLst>
        </pc:spChg>
        <pc:picChg chg="add mod">
          <ac:chgData name="Hồng Anh Phạm" userId="20855c2757e872f0" providerId="LiveId" clId="{09A0EC16-0746-401F-9FD5-3EA9F7F985B6}" dt="2026-07-01T03:47:25.430" v="51" actId="1076"/>
          <ac:picMkLst>
            <pc:docMk/>
            <pc:sldMk cId="699250313" sldId="272"/>
            <ac:picMk id="4" creationId="{D8DE9DBF-9C5F-0FE3-41B8-C7A5C62576E3}"/>
          </ac:picMkLst>
        </pc:picChg>
        <pc:picChg chg="add mod">
          <ac:chgData name="Hồng Anh Phạm" userId="20855c2757e872f0" providerId="LiveId" clId="{09A0EC16-0746-401F-9FD5-3EA9F7F985B6}" dt="2026-07-01T03:44:53.026" v="34" actId="1076"/>
          <ac:picMkLst>
            <pc:docMk/>
            <pc:sldMk cId="699250313" sldId="272"/>
            <ac:picMk id="5" creationId="{DC559EC8-8112-2F4E-DE58-1D9A5F877A92}"/>
          </ac:picMkLst>
        </pc:picChg>
        <pc:picChg chg="add mod">
          <ac:chgData name="Hồng Anh Phạm" userId="20855c2757e872f0" providerId="LiveId" clId="{09A0EC16-0746-401F-9FD5-3EA9F7F985B6}" dt="2026-07-01T03:47:30.708" v="52" actId="1076"/>
          <ac:picMkLst>
            <pc:docMk/>
            <pc:sldMk cId="699250313" sldId="272"/>
            <ac:picMk id="6" creationId="{76032A8C-14E8-DE1E-8B16-278325177C09}"/>
          </ac:picMkLst>
        </pc:picChg>
        <pc:picChg chg="add mod">
          <ac:chgData name="Hồng Anh Phạm" userId="20855c2757e872f0" providerId="LiveId" clId="{09A0EC16-0746-401F-9FD5-3EA9F7F985B6}" dt="2026-07-01T03:48:24.587" v="59" actId="1076"/>
          <ac:picMkLst>
            <pc:docMk/>
            <pc:sldMk cId="699250313" sldId="272"/>
            <ac:picMk id="13" creationId="{D249869E-EA90-8A06-84ED-B3A6436BC019}"/>
          </ac:picMkLst>
        </pc:picChg>
      </pc:sldChg>
      <pc:sldChg chg="addSp delSp modSp new mod">
        <pc:chgData name="Hồng Anh Phạm" userId="20855c2757e872f0" providerId="LiveId" clId="{09A0EC16-0746-401F-9FD5-3EA9F7F985B6}" dt="2026-07-01T03:50:58.253" v="78" actId="1076"/>
        <pc:sldMkLst>
          <pc:docMk/>
          <pc:sldMk cId="1185888011" sldId="273"/>
        </pc:sldMkLst>
        <pc:spChg chg="add del">
          <ac:chgData name="Hồng Anh Phạm" userId="20855c2757e872f0" providerId="LiveId" clId="{09A0EC16-0746-401F-9FD5-3EA9F7F985B6}" dt="2026-07-01T03:49:34.051" v="63"/>
          <ac:spMkLst>
            <pc:docMk/>
            <pc:sldMk cId="1185888011" sldId="273"/>
            <ac:spMk id="3" creationId="{1174325C-3451-2382-7ACE-D159DF533A6C}"/>
          </ac:spMkLst>
        </pc:spChg>
        <pc:spChg chg="add mod">
          <ac:chgData name="Hồng Anh Phạm" userId="20855c2757e872f0" providerId="LiveId" clId="{09A0EC16-0746-401F-9FD5-3EA9F7F985B6}" dt="2026-07-01T03:50:44.434" v="75" actId="255"/>
          <ac:spMkLst>
            <pc:docMk/>
            <pc:sldMk cId="1185888011" sldId="273"/>
            <ac:spMk id="7" creationId="{1E386F04-FA6D-3FF1-2651-9844C5906794}"/>
          </ac:spMkLst>
        </pc:spChg>
        <pc:picChg chg="add mod">
          <ac:chgData name="Hồng Anh Phạm" userId="20855c2757e872f0" providerId="LiveId" clId="{09A0EC16-0746-401F-9FD5-3EA9F7F985B6}" dt="2026-07-01T03:49:34.051" v="63"/>
          <ac:picMkLst>
            <pc:docMk/>
            <pc:sldMk cId="1185888011" sldId="273"/>
            <ac:picMk id="4" creationId="{94B60793-31E4-360B-E250-EDFD5339C911}"/>
          </ac:picMkLst>
        </pc:picChg>
        <pc:picChg chg="add mod">
          <ac:chgData name="Hồng Anh Phạm" userId="20855c2757e872f0" providerId="LiveId" clId="{09A0EC16-0746-401F-9FD5-3EA9F7F985B6}" dt="2026-07-01T03:50:11.160" v="70" actId="14100"/>
          <ac:picMkLst>
            <pc:docMk/>
            <pc:sldMk cId="1185888011" sldId="273"/>
            <ac:picMk id="5" creationId="{60369DAE-21BB-6FC1-6B67-3DA2E5A9348C}"/>
          </ac:picMkLst>
        </pc:picChg>
        <pc:picChg chg="add mod">
          <ac:chgData name="Hồng Anh Phạm" userId="20855c2757e872f0" providerId="LiveId" clId="{09A0EC16-0746-401F-9FD5-3EA9F7F985B6}" dt="2026-07-01T03:50:58.253" v="78" actId="1076"/>
          <ac:picMkLst>
            <pc:docMk/>
            <pc:sldMk cId="1185888011" sldId="273"/>
            <ac:picMk id="8" creationId="{0B540B36-3073-DAAE-42DF-6DD5D45840A8}"/>
          </ac:picMkLst>
        </pc:picChg>
      </pc:sldChg>
      <pc:sldChg chg="addSp modSp new mod">
        <pc:chgData name="Hồng Anh Phạm" userId="20855c2757e872f0" providerId="LiveId" clId="{09A0EC16-0746-401F-9FD5-3EA9F7F985B6}" dt="2026-07-01T03:53:34.261" v="103" actId="1076"/>
        <pc:sldMkLst>
          <pc:docMk/>
          <pc:sldMk cId="3348135705" sldId="274"/>
        </pc:sldMkLst>
        <pc:spChg chg="add mod">
          <ac:chgData name="Hồng Anh Phạm" userId="20855c2757e872f0" providerId="LiveId" clId="{09A0EC16-0746-401F-9FD5-3EA9F7F985B6}" dt="2026-07-01T03:52:42.630" v="95" actId="1076"/>
          <ac:spMkLst>
            <pc:docMk/>
            <pc:sldMk cId="3348135705" sldId="274"/>
            <ac:spMk id="6" creationId="{F2DB7B54-B56B-F4DA-48BE-EF22EC643966}"/>
          </ac:spMkLst>
        </pc:spChg>
        <pc:spChg chg="add mod">
          <ac:chgData name="Hồng Anh Phạm" userId="20855c2757e872f0" providerId="LiveId" clId="{09A0EC16-0746-401F-9FD5-3EA9F7F985B6}" dt="2026-07-01T03:53:34.261" v="103" actId="1076"/>
          <ac:spMkLst>
            <pc:docMk/>
            <pc:sldMk cId="3348135705" sldId="274"/>
            <ac:spMk id="8" creationId="{2770692B-B7D9-123A-4201-D552D9164A57}"/>
          </ac:spMkLst>
        </pc:spChg>
        <pc:picChg chg="add mod">
          <ac:chgData name="Hồng Anh Phạm" userId="20855c2757e872f0" providerId="LiveId" clId="{09A0EC16-0746-401F-9FD5-3EA9F7F985B6}" dt="2026-07-01T03:51:50.577" v="85" actId="14100"/>
          <ac:picMkLst>
            <pc:docMk/>
            <pc:sldMk cId="3348135705" sldId="274"/>
            <ac:picMk id="4" creationId="{9E75BF70-7C1D-8333-EE94-B8DD630F5074}"/>
          </ac:picMkLst>
        </pc:picChg>
      </pc:sldChg>
      <pc:sldChg chg="addSp delSp modSp new mod">
        <pc:chgData name="Hồng Anh Phạm" userId="20855c2757e872f0" providerId="LiveId" clId="{09A0EC16-0746-401F-9FD5-3EA9F7F985B6}" dt="2026-07-01T04:00:28.329" v="151" actId="1076"/>
        <pc:sldMkLst>
          <pc:docMk/>
          <pc:sldMk cId="3824622379" sldId="275"/>
        </pc:sldMkLst>
        <pc:spChg chg="mod">
          <ac:chgData name="Hồng Anh Phạm" userId="20855c2757e872f0" providerId="LiveId" clId="{09A0EC16-0746-401F-9FD5-3EA9F7F985B6}" dt="2026-07-01T03:54:58.612" v="107" actId="255"/>
          <ac:spMkLst>
            <pc:docMk/>
            <pc:sldMk cId="3824622379" sldId="275"/>
            <ac:spMk id="2" creationId="{2434A34B-33BF-16B3-5A0B-7ED62B2C6649}"/>
          </ac:spMkLst>
        </pc:spChg>
        <pc:spChg chg="del">
          <ac:chgData name="Hồng Anh Phạm" userId="20855c2757e872f0" providerId="LiveId" clId="{09A0EC16-0746-401F-9FD5-3EA9F7F985B6}" dt="2026-07-01T03:55:16.910" v="108"/>
          <ac:spMkLst>
            <pc:docMk/>
            <pc:sldMk cId="3824622379" sldId="275"/>
            <ac:spMk id="3" creationId="{AB289BB5-E8DB-C66B-F991-61E8657C77CC}"/>
          </ac:spMkLst>
        </pc:spChg>
        <pc:spChg chg="add mod">
          <ac:chgData name="Hồng Anh Phạm" userId="20855c2757e872f0" providerId="LiveId" clId="{09A0EC16-0746-401F-9FD5-3EA9F7F985B6}" dt="2026-07-01T03:59:32.137" v="141" actId="1076"/>
          <ac:spMkLst>
            <pc:docMk/>
            <pc:sldMk cId="3824622379" sldId="275"/>
            <ac:spMk id="8" creationId="{0D4E6C30-B9E6-23C9-6915-6F256C484729}"/>
          </ac:spMkLst>
        </pc:spChg>
        <pc:spChg chg="add mod">
          <ac:chgData name="Hồng Anh Phạm" userId="20855c2757e872f0" providerId="LiveId" clId="{09A0EC16-0746-401F-9FD5-3EA9F7F985B6}" dt="2026-07-01T03:59:50.217" v="144" actId="1076"/>
          <ac:spMkLst>
            <pc:docMk/>
            <pc:sldMk cId="3824622379" sldId="275"/>
            <ac:spMk id="10" creationId="{88DCD877-E5A7-B060-5F71-8EFC0F4439BA}"/>
          </ac:spMkLst>
        </pc:spChg>
        <pc:spChg chg="add mod">
          <ac:chgData name="Hồng Anh Phạm" userId="20855c2757e872f0" providerId="LiveId" clId="{09A0EC16-0746-401F-9FD5-3EA9F7F985B6}" dt="2026-07-01T03:59:43.221" v="143" actId="1076"/>
          <ac:spMkLst>
            <pc:docMk/>
            <pc:sldMk cId="3824622379" sldId="275"/>
            <ac:spMk id="12" creationId="{F07B7A39-1F6E-A64C-EFF9-E107100B917E}"/>
          </ac:spMkLst>
        </pc:spChg>
        <pc:spChg chg="add mod">
          <ac:chgData name="Hồng Anh Phạm" userId="20855c2757e872f0" providerId="LiveId" clId="{09A0EC16-0746-401F-9FD5-3EA9F7F985B6}" dt="2026-07-01T04:00:15.713" v="148" actId="1076"/>
          <ac:spMkLst>
            <pc:docMk/>
            <pc:sldMk cId="3824622379" sldId="275"/>
            <ac:spMk id="14" creationId="{97939C92-56F3-9B25-BBE1-41B565366D10}"/>
          </ac:spMkLst>
        </pc:spChg>
        <pc:picChg chg="add mod">
          <ac:chgData name="Hồng Anh Phạm" userId="20855c2757e872f0" providerId="LiveId" clId="{09A0EC16-0746-401F-9FD5-3EA9F7F985B6}" dt="2026-07-01T03:59:37.732" v="142" actId="1076"/>
          <ac:picMkLst>
            <pc:docMk/>
            <pc:sldMk cId="3824622379" sldId="275"/>
            <ac:picMk id="4" creationId="{7789BD13-0A98-0CE0-DB45-A231C443A2B1}"/>
          </ac:picMkLst>
        </pc:picChg>
        <pc:picChg chg="add mod">
          <ac:chgData name="Hồng Anh Phạm" userId="20855c2757e872f0" providerId="LiveId" clId="{09A0EC16-0746-401F-9FD5-3EA9F7F985B6}" dt="2026-07-01T04:00:07.971" v="147" actId="1076"/>
          <ac:picMkLst>
            <pc:docMk/>
            <pc:sldMk cId="3824622379" sldId="275"/>
            <ac:picMk id="5" creationId="{4A3D521D-5FF4-491E-F726-21CA44EAA5C1}"/>
          </ac:picMkLst>
        </pc:picChg>
        <pc:picChg chg="add mod">
          <ac:chgData name="Hồng Anh Phạm" userId="20855c2757e872f0" providerId="LiveId" clId="{09A0EC16-0746-401F-9FD5-3EA9F7F985B6}" dt="2026-07-01T03:55:55.639" v="115"/>
          <ac:picMkLst>
            <pc:docMk/>
            <pc:sldMk cId="3824622379" sldId="275"/>
            <ac:picMk id="6" creationId="{971D61B2-4803-C564-F757-CA5105B371DE}"/>
          </ac:picMkLst>
        </pc:picChg>
        <pc:picChg chg="add mod">
          <ac:chgData name="Hồng Anh Phạm" userId="20855c2757e872f0" providerId="LiveId" clId="{09A0EC16-0746-401F-9FD5-3EA9F7F985B6}" dt="2026-07-01T04:00:28.329" v="151" actId="1076"/>
          <ac:picMkLst>
            <pc:docMk/>
            <pc:sldMk cId="3824622379" sldId="275"/>
            <ac:picMk id="15" creationId="{720EC385-773A-7EA3-F51F-967F5D2720C9}"/>
          </ac:picMkLst>
        </pc:picChg>
      </pc:sldChg>
      <pc:sldChg chg="addSp delSp modSp new mod">
        <pc:chgData name="Hồng Anh Phạm" userId="20855c2757e872f0" providerId="LiveId" clId="{09A0EC16-0746-401F-9FD5-3EA9F7F985B6}" dt="2026-07-01T04:05:19.064" v="187" actId="14100"/>
        <pc:sldMkLst>
          <pc:docMk/>
          <pc:sldMk cId="3256266605" sldId="276"/>
        </pc:sldMkLst>
        <pc:spChg chg="mod">
          <ac:chgData name="Hồng Anh Phạm" userId="20855c2757e872f0" providerId="LiveId" clId="{09A0EC16-0746-401F-9FD5-3EA9F7F985B6}" dt="2026-07-01T04:04:44.299" v="179"/>
          <ac:spMkLst>
            <pc:docMk/>
            <pc:sldMk cId="3256266605" sldId="276"/>
            <ac:spMk id="2" creationId="{FB7EB3AF-7626-A50E-7C21-C9510F1C66BD}"/>
          </ac:spMkLst>
        </pc:spChg>
        <pc:spChg chg="del">
          <ac:chgData name="Hồng Anh Phạm" userId="20855c2757e872f0" providerId="LiveId" clId="{09A0EC16-0746-401F-9FD5-3EA9F7F985B6}" dt="2026-07-01T04:02:23.386" v="155"/>
          <ac:spMkLst>
            <pc:docMk/>
            <pc:sldMk cId="3256266605" sldId="276"/>
            <ac:spMk id="3" creationId="{28D4A32F-B94A-5B05-1DED-6C7338749783}"/>
          </ac:spMkLst>
        </pc:spChg>
        <pc:spChg chg="add mod">
          <ac:chgData name="Hồng Anh Phạm" userId="20855c2757e872f0" providerId="LiveId" clId="{09A0EC16-0746-401F-9FD5-3EA9F7F985B6}" dt="2026-07-01T04:03:02.768" v="164" actId="122"/>
          <ac:spMkLst>
            <pc:docMk/>
            <pc:sldMk cId="3256266605" sldId="276"/>
            <ac:spMk id="7" creationId="{4D8ACA3A-4ED0-A9C8-140D-A2947A947B08}"/>
          </ac:spMkLst>
        </pc:spChg>
        <pc:spChg chg="add mod">
          <ac:chgData name="Hồng Anh Phạm" userId="20855c2757e872f0" providerId="LiveId" clId="{09A0EC16-0746-401F-9FD5-3EA9F7F985B6}" dt="2026-07-01T04:03:33.392" v="169" actId="122"/>
          <ac:spMkLst>
            <pc:docMk/>
            <pc:sldMk cId="3256266605" sldId="276"/>
            <ac:spMk id="9" creationId="{D3505FF7-9DB3-8BF8-B2B7-00BFC3E44169}"/>
          </ac:spMkLst>
        </pc:spChg>
        <pc:spChg chg="add mod">
          <ac:chgData name="Hồng Anh Phạm" userId="20855c2757e872f0" providerId="LiveId" clId="{09A0EC16-0746-401F-9FD5-3EA9F7F985B6}" dt="2026-07-01T04:04:12.472" v="175" actId="207"/>
          <ac:spMkLst>
            <pc:docMk/>
            <pc:sldMk cId="3256266605" sldId="276"/>
            <ac:spMk id="11" creationId="{F7F24532-5DAD-928D-FC7F-B3BD6DC0D882}"/>
          </ac:spMkLst>
        </pc:spChg>
        <pc:spChg chg="add mod">
          <ac:chgData name="Hồng Anh Phạm" userId="20855c2757e872f0" providerId="LiveId" clId="{09A0EC16-0746-401F-9FD5-3EA9F7F985B6}" dt="2026-07-01T04:05:19.064" v="187" actId="14100"/>
          <ac:spMkLst>
            <pc:docMk/>
            <pc:sldMk cId="3256266605" sldId="276"/>
            <ac:spMk id="13" creationId="{C3A212CC-341C-1E91-18F3-F20C0FE9D6BC}"/>
          </ac:spMkLst>
        </pc:spChg>
        <pc:picChg chg="add mod">
          <ac:chgData name="Hồng Anh Phạm" userId="20855c2757e872f0" providerId="LiveId" clId="{09A0EC16-0746-401F-9FD5-3EA9F7F985B6}" dt="2026-07-01T04:02:25.274" v="156" actId="1076"/>
          <ac:picMkLst>
            <pc:docMk/>
            <pc:sldMk cId="3256266605" sldId="276"/>
            <ac:picMk id="4" creationId="{D8435C56-15CC-5A88-D88E-4999BEBBADFA}"/>
          </ac:picMkLst>
        </pc:picChg>
        <pc:picChg chg="add mod">
          <ac:chgData name="Hồng Anh Phạm" userId="20855c2757e872f0" providerId="LiveId" clId="{09A0EC16-0746-401F-9FD5-3EA9F7F985B6}" dt="2026-07-01T04:02:32.409" v="159" actId="1076"/>
          <ac:picMkLst>
            <pc:docMk/>
            <pc:sldMk cId="3256266605" sldId="276"/>
            <ac:picMk id="5" creationId="{20D0DA30-5476-B49E-86FA-0C802BA08F78}"/>
          </ac:picMkLst>
        </pc:picChg>
      </pc:sldChg>
      <pc:sldChg chg="addSp delSp modSp new mod ord">
        <pc:chgData name="Hồng Anh Phạm" userId="20855c2757e872f0" providerId="LiveId" clId="{09A0EC16-0746-401F-9FD5-3EA9F7F985B6}" dt="2026-07-01T04:09:34.063" v="230"/>
        <pc:sldMkLst>
          <pc:docMk/>
          <pc:sldMk cId="2567041126" sldId="277"/>
        </pc:sldMkLst>
        <pc:spChg chg="mod">
          <ac:chgData name="Hồng Anh Phạm" userId="20855c2757e872f0" providerId="LiveId" clId="{09A0EC16-0746-401F-9FD5-3EA9F7F985B6}" dt="2026-07-01T04:09:32.670" v="228" actId="1076"/>
          <ac:spMkLst>
            <pc:docMk/>
            <pc:sldMk cId="2567041126" sldId="277"/>
            <ac:spMk id="2" creationId="{C7B0AE4B-3566-A30D-F636-1EB267DF0AE2}"/>
          </ac:spMkLst>
        </pc:spChg>
        <pc:spChg chg="del">
          <ac:chgData name="Hồng Anh Phạm" userId="20855c2757e872f0" providerId="LiveId" clId="{09A0EC16-0746-401F-9FD5-3EA9F7F985B6}" dt="2026-07-01T04:06:02.477" v="192"/>
          <ac:spMkLst>
            <pc:docMk/>
            <pc:sldMk cId="2567041126" sldId="277"/>
            <ac:spMk id="3" creationId="{03AB9D23-5A35-2E15-39A8-4ABE16E22E06}"/>
          </ac:spMkLst>
        </pc:spChg>
        <pc:spChg chg="add mod">
          <ac:chgData name="Hồng Anh Phạm" userId="20855c2757e872f0" providerId="LiveId" clId="{09A0EC16-0746-401F-9FD5-3EA9F7F985B6}" dt="2026-07-01T04:07:06.755" v="205" actId="122"/>
          <ac:spMkLst>
            <pc:docMk/>
            <pc:sldMk cId="2567041126" sldId="277"/>
            <ac:spMk id="7" creationId="{B1359930-C9E0-5652-671A-9041B9A10869}"/>
          </ac:spMkLst>
        </pc:spChg>
        <pc:spChg chg="add mod">
          <ac:chgData name="Hồng Anh Phạm" userId="20855c2757e872f0" providerId="LiveId" clId="{09A0EC16-0746-401F-9FD5-3EA9F7F985B6}" dt="2026-07-01T04:07:33.953" v="210" actId="122"/>
          <ac:spMkLst>
            <pc:docMk/>
            <pc:sldMk cId="2567041126" sldId="277"/>
            <ac:spMk id="9" creationId="{BD04C356-9CF3-95FB-6C4C-4DFC9A5012BE}"/>
          </ac:spMkLst>
        </pc:spChg>
        <pc:spChg chg="add mod">
          <ac:chgData name="Hồng Anh Phạm" userId="20855c2757e872f0" providerId="LiveId" clId="{09A0EC16-0746-401F-9FD5-3EA9F7F985B6}" dt="2026-07-01T04:08:44.214" v="219"/>
          <ac:spMkLst>
            <pc:docMk/>
            <pc:sldMk cId="2567041126" sldId="277"/>
            <ac:spMk id="11" creationId="{7EEFA8AA-4237-4FE1-83D7-63DD967721AE}"/>
          </ac:spMkLst>
        </pc:spChg>
        <pc:spChg chg="add mod">
          <ac:chgData name="Hồng Anh Phạm" userId="20855c2757e872f0" providerId="LiveId" clId="{09A0EC16-0746-401F-9FD5-3EA9F7F985B6}" dt="2026-07-01T04:09:20.427" v="227" actId="1076"/>
          <ac:spMkLst>
            <pc:docMk/>
            <pc:sldMk cId="2567041126" sldId="277"/>
            <ac:spMk id="13" creationId="{65961C8A-2CF1-EA32-59D3-2717171D73DE}"/>
          </ac:spMkLst>
        </pc:spChg>
        <pc:picChg chg="add mod">
          <ac:chgData name="Hồng Anh Phạm" userId="20855c2757e872f0" providerId="LiveId" clId="{09A0EC16-0746-401F-9FD5-3EA9F7F985B6}" dt="2026-07-01T04:06:05.673" v="193" actId="1076"/>
          <ac:picMkLst>
            <pc:docMk/>
            <pc:sldMk cId="2567041126" sldId="277"/>
            <ac:picMk id="4" creationId="{84C5AE10-6E59-0E84-4715-390C62D3AA7E}"/>
          </ac:picMkLst>
        </pc:picChg>
        <pc:picChg chg="add mod">
          <ac:chgData name="Hồng Anh Phạm" userId="20855c2757e872f0" providerId="LiveId" clId="{09A0EC16-0746-401F-9FD5-3EA9F7F985B6}" dt="2026-07-01T04:08:51.747" v="221" actId="1076"/>
          <ac:picMkLst>
            <pc:docMk/>
            <pc:sldMk cId="2567041126" sldId="277"/>
            <ac:picMk id="5" creationId="{ACFC1842-A3BE-30F5-CFF9-06D40BDBB3CD}"/>
          </ac:picMkLst>
        </pc:picChg>
      </pc:sldChg>
      <pc:sldChg chg="addSp modSp new mod">
        <pc:chgData name="Hồng Anh Phạm" userId="20855c2757e872f0" providerId="LiveId" clId="{09A0EC16-0746-401F-9FD5-3EA9F7F985B6}" dt="2026-07-01T04:13:08.935" v="277" actId="1076"/>
        <pc:sldMkLst>
          <pc:docMk/>
          <pc:sldMk cId="31252660" sldId="278"/>
        </pc:sldMkLst>
        <pc:spChg chg="add mod">
          <ac:chgData name="Hồng Anh Phạm" userId="20855c2757e872f0" providerId="LiveId" clId="{09A0EC16-0746-401F-9FD5-3EA9F7F985B6}" dt="2026-07-01T04:11:20.221" v="246" actId="1076"/>
          <ac:spMkLst>
            <pc:docMk/>
            <pc:sldMk cId="31252660" sldId="278"/>
            <ac:spMk id="6" creationId="{55318F5A-8095-59A5-D591-9B76AD0D0CD2}"/>
          </ac:spMkLst>
        </pc:spChg>
        <pc:spChg chg="add mod">
          <ac:chgData name="Hồng Anh Phạm" userId="20855c2757e872f0" providerId="LiveId" clId="{09A0EC16-0746-401F-9FD5-3EA9F7F985B6}" dt="2026-07-01T04:11:55.319" v="254" actId="1076"/>
          <ac:spMkLst>
            <pc:docMk/>
            <pc:sldMk cId="31252660" sldId="278"/>
            <ac:spMk id="8" creationId="{D2402B82-A12E-CD6B-F4FC-D3A09AA6BB1A}"/>
          </ac:spMkLst>
        </pc:spChg>
        <pc:spChg chg="add mod">
          <ac:chgData name="Hồng Anh Phạm" userId="20855c2757e872f0" providerId="LiveId" clId="{09A0EC16-0746-401F-9FD5-3EA9F7F985B6}" dt="2026-07-01T04:12:32.622" v="263" actId="1076"/>
          <ac:spMkLst>
            <pc:docMk/>
            <pc:sldMk cId="31252660" sldId="278"/>
            <ac:spMk id="10" creationId="{A72BF92F-5CC8-1803-8C83-7BF4554FD31D}"/>
          </ac:spMkLst>
        </pc:spChg>
        <pc:spChg chg="add mod">
          <ac:chgData name="Hồng Anh Phạm" userId="20855c2757e872f0" providerId="LiveId" clId="{09A0EC16-0746-401F-9FD5-3EA9F7F985B6}" dt="2026-07-01T04:13:08.935" v="277" actId="1076"/>
          <ac:spMkLst>
            <pc:docMk/>
            <pc:sldMk cId="31252660" sldId="278"/>
            <ac:spMk id="12" creationId="{24131ECA-B8CE-6D22-CECE-11D0EB3FA0F5}"/>
          </ac:spMkLst>
        </pc:spChg>
        <pc:picChg chg="add mod">
          <ac:chgData name="Hồng Anh Phạm" userId="20855c2757e872f0" providerId="LiveId" clId="{09A0EC16-0746-401F-9FD5-3EA9F7F985B6}" dt="2026-07-01T04:10:34.709" v="240" actId="1076"/>
          <ac:picMkLst>
            <pc:docMk/>
            <pc:sldMk cId="31252660" sldId="278"/>
            <ac:picMk id="4" creationId="{429A30C4-CC90-F2F5-8B72-0E5628BB318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EF078BE-8EC6-AB5A-A145-4141845B654B}"/>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42904E08-1E7C-1631-1A08-E9FC09DBB8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4DD1B457-D815-CD57-198C-872B72939954}"/>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5" name="Chỗ dành sẵn cho Chân trang 4">
            <a:extLst>
              <a:ext uri="{FF2B5EF4-FFF2-40B4-BE49-F238E27FC236}">
                <a16:creationId xmlns:a16="http://schemas.microsoft.com/office/drawing/2014/main" id="{D7901DC4-FF18-59B4-3C9E-111149DED3DD}"/>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C92C6EBF-FB4E-EE11-C7E7-6BD777EC9318}"/>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479449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63FD84E-0B59-A6D2-B60E-CCCFFEBC5607}"/>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DF9E7C7B-CE12-02E8-05DB-7B00BF73C975}"/>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D8FA20E7-2E2B-6E3D-437A-DE06B671F173}"/>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5" name="Chỗ dành sẵn cho Chân trang 4">
            <a:extLst>
              <a:ext uri="{FF2B5EF4-FFF2-40B4-BE49-F238E27FC236}">
                <a16:creationId xmlns:a16="http://schemas.microsoft.com/office/drawing/2014/main" id="{02A448EE-8CC8-2B48-BD05-FBE7ECA1856D}"/>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2D713F7F-A8AF-29F6-61A6-FE696DF416F1}"/>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3873078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47ED15B-4F7C-9029-6088-A50930F7C8A5}"/>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30D7DCDB-60B9-E75E-8AC0-771F9F3BF4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B62843BA-F6B9-E412-26FA-4FEE0BF8A930}"/>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5" name="Chỗ dành sẵn cho Chân trang 4">
            <a:extLst>
              <a:ext uri="{FF2B5EF4-FFF2-40B4-BE49-F238E27FC236}">
                <a16:creationId xmlns:a16="http://schemas.microsoft.com/office/drawing/2014/main" id="{A3E5A91D-EB32-79E7-51CE-84BA3992DDE8}"/>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83A0A9E2-C33E-A96E-5885-05EED1E8B690}"/>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3020538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FE6980E-4976-8710-AEC3-96B1CF77DD73}"/>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A3E602F7-B15F-57C5-2C62-68D2BD0860D8}"/>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45B3E9A2-21A7-68E6-541D-37716D1C1AC5}"/>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F5173270-CA1C-9499-FC27-04A29C6B70C8}"/>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6" name="Chỗ dành sẵn cho Chân trang 5">
            <a:extLst>
              <a:ext uri="{FF2B5EF4-FFF2-40B4-BE49-F238E27FC236}">
                <a16:creationId xmlns:a16="http://schemas.microsoft.com/office/drawing/2014/main" id="{956E65EE-CA32-683D-17F3-A898DB5297B6}"/>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44390F1D-9CCA-24A0-48B9-881C84815FC1}"/>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1072616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6CF0D2E-2B24-458D-B2B9-8B4E01D9A8F8}"/>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91FBD043-9C02-DDD0-F2ED-2FC7F169E1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9CDE3247-78B3-A52D-368E-92CD1AA02B06}"/>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DD3AB078-6846-C4C3-3049-2988ADB08E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1F2D298B-28C9-D03C-68C4-91D75906CD93}"/>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6BB1BA01-592D-F298-C29D-A9989D0E9D08}"/>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8" name="Chỗ dành sẵn cho Chân trang 7">
            <a:extLst>
              <a:ext uri="{FF2B5EF4-FFF2-40B4-BE49-F238E27FC236}">
                <a16:creationId xmlns:a16="http://schemas.microsoft.com/office/drawing/2014/main" id="{FB35AF71-F653-4432-DECA-910507D45049}"/>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7DF96B15-93A2-0A63-1E02-F746DE174596}"/>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1057504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C434565-3A36-F9F5-7426-0B238184CB75}"/>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F887D8FC-2731-A24F-6468-55CE98551BAD}"/>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4" name="Chỗ dành sẵn cho Chân trang 3">
            <a:extLst>
              <a:ext uri="{FF2B5EF4-FFF2-40B4-BE49-F238E27FC236}">
                <a16:creationId xmlns:a16="http://schemas.microsoft.com/office/drawing/2014/main" id="{1B33F6D0-7CA8-00DD-0CAE-302FECBFD6E9}"/>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59D7F1E6-5AF3-750B-D866-70A6721CE753}"/>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1794118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F016B7D6-D3B3-CF70-F332-F3620ADC5DE1}"/>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3" name="Chỗ dành sẵn cho Chân trang 2">
            <a:extLst>
              <a:ext uri="{FF2B5EF4-FFF2-40B4-BE49-F238E27FC236}">
                <a16:creationId xmlns:a16="http://schemas.microsoft.com/office/drawing/2014/main" id="{235147BB-A443-79BD-EED7-6240D8E68B6C}"/>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EEC6EDAC-734F-CAA7-BA2F-A570EE9B4CCE}"/>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2553486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3D30DFB-4271-802B-8810-C920A1B5D567}"/>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9FF46EE4-E2C1-B6A8-F260-B71E8B15F3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A5A996D4-EF1E-DBE0-CCAA-7EED628F4E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37846E36-5FE6-5F22-01F3-F696653DB377}"/>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6" name="Chỗ dành sẵn cho Chân trang 5">
            <a:extLst>
              <a:ext uri="{FF2B5EF4-FFF2-40B4-BE49-F238E27FC236}">
                <a16:creationId xmlns:a16="http://schemas.microsoft.com/office/drawing/2014/main" id="{BBFA5215-2BEF-06AD-90FB-AE647F0DB154}"/>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5C1EAD7D-3593-CA98-7588-6480A0D40D18}"/>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2746986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9397BCF-3966-6BF5-C4F2-42A104979510}"/>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7D90A999-5F99-DE88-3529-22D87825E4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BC274BC6-39E1-86BE-11DD-CF046DD347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FDBF484F-277D-2EEC-E92A-8263D56F63DC}"/>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6" name="Chỗ dành sẵn cho Chân trang 5">
            <a:extLst>
              <a:ext uri="{FF2B5EF4-FFF2-40B4-BE49-F238E27FC236}">
                <a16:creationId xmlns:a16="http://schemas.microsoft.com/office/drawing/2014/main" id="{2F296B64-9D74-95B9-91ED-9277A61CD067}"/>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877147C6-E506-834B-4CF7-58C7E34109E8}"/>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17503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2B552B1-15C9-3776-CA5A-9B6B1D1B9BD1}"/>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D2FBFD8A-432F-6C51-0851-6DA1D3A79B37}"/>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45E78A1C-9B52-85C4-2762-910FC1E05423}"/>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5" name="Chỗ dành sẵn cho Chân trang 4">
            <a:extLst>
              <a:ext uri="{FF2B5EF4-FFF2-40B4-BE49-F238E27FC236}">
                <a16:creationId xmlns:a16="http://schemas.microsoft.com/office/drawing/2014/main" id="{1471A205-C729-3CA9-1C95-321AF08A92C5}"/>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D5260DA9-2678-6B82-17EB-182EA4FC3171}"/>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2316134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F4EF426B-D0F4-D2D3-FC00-4673E442999C}"/>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2A5DD7C1-1E8E-5121-5CD0-9912DFF99983}"/>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77764795-A01F-9534-4467-F10249F3A483}"/>
              </a:ext>
            </a:extLst>
          </p:cNvPr>
          <p:cNvSpPr>
            <a:spLocks noGrp="1"/>
          </p:cNvSpPr>
          <p:nvPr>
            <p:ph type="dt" sz="half" idx="10"/>
          </p:nvPr>
        </p:nvSpPr>
        <p:spPr/>
        <p:txBody>
          <a:bodyPr/>
          <a:lstStyle/>
          <a:p>
            <a:fld id="{B7C11BD9-9E23-42B6-85E1-80A5227D39B2}" type="datetimeFigureOut">
              <a:rPr lang="vi-VN" smtClean="0"/>
              <a:t>01/07/2026</a:t>
            </a:fld>
            <a:endParaRPr lang="vi-VN"/>
          </a:p>
        </p:txBody>
      </p:sp>
      <p:sp>
        <p:nvSpPr>
          <p:cNvPr id="5" name="Chỗ dành sẵn cho Chân trang 4">
            <a:extLst>
              <a:ext uri="{FF2B5EF4-FFF2-40B4-BE49-F238E27FC236}">
                <a16:creationId xmlns:a16="http://schemas.microsoft.com/office/drawing/2014/main" id="{C5F59D09-19B6-B991-4104-345EE6FD4412}"/>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F55F0A30-D2AA-D9EF-3982-BF390A526505}"/>
              </a:ext>
            </a:extLst>
          </p:cNvPr>
          <p:cNvSpPr>
            <a:spLocks noGrp="1"/>
          </p:cNvSpPr>
          <p:nvPr>
            <p:ph type="sldNum" sz="quarter" idx="12"/>
          </p:nvPr>
        </p:nvSpPr>
        <p:spPr/>
        <p:txBody>
          <a:bodyPr/>
          <a:lstStyle/>
          <a:p>
            <a:fld id="{7506D236-3F57-4451-BFA4-14BE4E7CB974}" type="slidenum">
              <a:rPr lang="vi-VN" smtClean="0"/>
              <a:t>‹#›</a:t>
            </a:fld>
            <a:endParaRPr lang="vi-VN"/>
          </a:p>
        </p:txBody>
      </p:sp>
    </p:spTree>
    <p:extLst>
      <p:ext uri="{BB962C8B-B14F-4D97-AF65-F5344CB8AC3E}">
        <p14:creationId xmlns:p14="http://schemas.microsoft.com/office/powerpoint/2010/main" val="4038035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AEE13E87-7310-2813-A08A-F33C982683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81433214-1FC3-141B-7EC3-6A4647E423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8E5A2634-8ED3-3F39-0372-721BF9D604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C11BD9-9E23-42B6-85E1-80A5227D39B2}" type="datetimeFigureOut">
              <a:rPr lang="vi-VN" smtClean="0"/>
              <a:t>01/07/2026</a:t>
            </a:fld>
            <a:endParaRPr lang="vi-VN"/>
          </a:p>
        </p:txBody>
      </p:sp>
      <p:sp>
        <p:nvSpPr>
          <p:cNvPr id="5" name="Chỗ dành sẵn cho Chân trang 4">
            <a:extLst>
              <a:ext uri="{FF2B5EF4-FFF2-40B4-BE49-F238E27FC236}">
                <a16:creationId xmlns:a16="http://schemas.microsoft.com/office/drawing/2014/main" id="{FA33D13A-0B69-B664-3D35-24B6E32807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Chỗ dành sẵn cho Số hiệu Bản chiếu 5">
            <a:extLst>
              <a:ext uri="{FF2B5EF4-FFF2-40B4-BE49-F238E27FC236}">
                <a16:creationId xmlns:a16="http://schemas.microsoft.com/office/drawing/2014/main" id="{75C73028-5745-AFAA-D25D-F44C0B663E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06D236-3F57-4451-BFA4-14BE4E7CB974}" type="slidenum">
              <a:rPr lang="vi-VN" smtClean="0"/>
              <a:t>‹#›</a:t>
            </a:fld>
            <a:endParaRPr lang="vi-VN"/>
          </a:p>
        </p:txBody>
      </p:sp>
    </p:spTree>
    <p:extLst>
      <p:ext uri="{BB962C8B-B14F-4D97-AF65-F5344CB8AC3E}">
        <p14:creationId xmlns:p14="http://schemas.microsoft.com/office/powerpoint/2010/main" val="1649437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997DCDA-A7A9-24BC-4892-DAD272E75025}"/>
              </a:ext>
            </a:extLst>
          </p:cNvPr>
          <p:cNvSpPr>
            <a:spLocks noGrp="1"/>
          </p:cNvSpPr>
          <p:nvPr>
            <p:ph type="ctrTitle"/>
          </p:nvPr>
        </p:nvSpPr>
        <p:spPr/>
        <p:txBody>
          <a:bodyPr/>
          <a:lstStyle/>
          <a:p>
            <a:r>
              <a:rPr lang="vi-VN" b="0" dirty="0">
                <a:effectLst/>
              </a:rPr>
              <a:t>   </a:t>
            </a:r>
            <a:endParaRPr lang="vi-VN" dirty="0"/>
          </a:p>
        </p:txBody>
      </p:sp>
      <p:sp>
        <p:nvSpPr>
          <p:cNvPr id="3" name="Tiêu đề phụ 2">
            <a:extLst>
              <a:ext uri="{FF2B5EF4-FFF2-40B4-BE49-F238E27FC236}">
                <a16:creationId xmlns:a16="http://schemas.microsoft.com/office/drawing/2014/main" id="{1708D751-571E-6E41-6481-E1CB8B9FBFB0}"/>
              </a:ext>
            </a:extLst>
          </p:cNvPr>
          <p:cNvSpPr>
            <a:spLocks noGrp="1"/>
          </p:cNvSpPr>
          <p:nvPr>
            <p:ph type="subTitle" idx="1"/>
          </p:nvPr>
        </p:nvSpPr>
        <p:spPr/>
        <p:txBody>
          <a:bodyPr/>
          <a:lstStyle/>
          <a:p>
            <a:endParaRPr lang="vi-VN" dirty="0"/>
          </a:p>
        </p:txBody>
      </p:sp>
      <p:pic>
        <p:nvPicPr>
          <p:cNvPr id="6" name="Hình ảnh 5" descr="image.png">
            <a:extLst>
              <a:ext uri="{FF2B5EF4-FFF2-40B4-BE49-F238E27FC236}">
                <a16:creationId xmlns:a16="http://schemas.microsoft.com/office/drawing/2014/main" id="{E495F2C5-85F1-60AE-C738-E75C51654AB1}"/>
              </a:ext>
            </a:extLst>
          </p:cNvPr>
          <p:cNvPicPr>
            <a:picLocks noChangeAspect="1"/>
          </p:cNvPicPr>
          <p:nvPr/>
        </p:nvPicPr>
        <p:blipFill>
          <a:blip r:embed="rId2"/>
          <a:stretch>
            <a:fillRect/>
          </a:stretch>
        </p:blipFill>
        <p:spPr>
          <a:xfrm>
            <a:off x="0" y="0"/>
            <a:ext cx="12192000" cy="6858000"/>
          </a:xfrm>
          <a:prstGeom prst="rect">
            <a:avLst/>
          </a:prstGeom>
        </p:spPr>
      </p:pic>
      <p:sp>
        <p:nvSpPr>
          <p:cNvPr id="8" name="Hộp Văn bản 7">
            <a:extLst>
              <a:ext uri="{FF2B5EF4-FFF2-40B4-BE49-F238E27FC236}">
                <a16:creationId xmlns:a16="http://schemas.microsoft.com/office/drawing/2014/main" id="{25BF6B64-EA44-3FEA-75FB-6421A0997AD1}"/>
              </a:ext>
            </a:extLst>
          </p:cNvPr>
          <p:cNvSpPr txBox="1"/>
          <p:nvPr/>
        </p:nvSpPr>
        <p:spPr>
          <a:xfrm>
            <a:off x="787399" y="598635"/>
            <a:ext cx="10143067" cy="646331"/>
          </a:xfrm>
          <a:prstGeom prst="rect">
            <a:avLst/>
          </a:prstGeom>
          <a:noFill/>
        </p:spPr>
        <p:txBody>
          <a:bodyPr wrap="square">
            <a:spAutoFit/>
          </a:bodyPr>
          <a:lstStyle/>
          <a:p>
            <a:pPr algn="ctr"/>
            <a:r>
              <a:rPr lang="vi-VN" b="1" i="0" u="none" strike="noStrike" dirty="0">
                <a:solidFill>
                  <a:srgbClr val="38BDF8"/>
                </a:solidFill>
                <a:effectLst/>
              </a:rPr>
              <a:t>TRƯỜNG ĐẠI HỌC HẢI PHÒNG </a:t>
            </a:r>
          </a:p>
          <a:p>
            <a:pPr algn="ctr"/>
            <a:r>
              <a:rPr lang="vi-VN" b="1" i="0" u="none" strike="noStrike" dirty="0">
                <a:solidFill>
                  <a:srgbClr val="38BDF8"/>
                </a:solidFill>
                <a:effectLst/>
              </a:rPr>
              <a:t> KHOA CÔNG NGHỆ THÔNG TIN</a:t>
            </a:r>
            <a:endParaRPr lang="vi-VN" dirty="0"/>
          </a:p>
        </p:txBody>
      </p:sp>
      <p:sp>
        <p:nvSpPr>
          <p:cNvPr id="12" name="Hộp Văn bản 11">
            <a:extLst>
              <a:ext uri="{FF2B5EF4-FFF2-40B4-BE49-F238E27FC236}">
                <a16:creationId xmlns:a16="http://schemas.microsoft.com/office/drawing/2014/main" id="{B4DD511A-A1F6-D729-865F-C6BF2841FE62}"/>
              </a:ext>
            </a:extLst>
          </p:cNvPr>
          <p:cNvSpPr txBox="1"/>
          <p:nvPr/>
        </p:nvSpPr>
        <p:spPr>
          <a:xfrm>
            <a:off x="719665" y="1843601"/>
            <a:ext cx="10278533" cy="1323439"/>
          </a:xfrm>
          <a:prstGeom prst="rect">
            <a:avLst/>
          </a:prstGeom>
          <a:noFill/>
        </p:spPr>
        <p:txBody>
          <a:bodyPr wrap="square">
            <a:spAutoFit/>
          </a:bodyPr>
          <a:lstStyle/>
          <a:p>
            <a:pPr algn="ctr" rtl="0">
              <a:buNone/>
            </a:pPr>
            <a:r>
              <a:rPr lang="vi-VN" sz="4400" b="1" i="0" u="none" strike="noStrike" dirty="0">
                <a:solidFill>
                  <a:srgbClr val="FFFFFF"/>
                </a:solidFill>
                <a:effectLst/>
              </a:rPr>
              <a:t>HỆ MẬT MÃ LƯỢNG TỬ</a:t>
            </a:r>
            <a:endParaRPr lang="vi-VN" sz="4400" b="0" dirty="0">
              <a:effectLst/>
            </a:endParaRPr>
          </a:p>
          <a:p>
            <a:pPr>
              <a:buNone/>
            </a:pPr>
            <a:br>
              <a:rPr lang="vi-VN" dirty="0"/>
            </a:br>
            <a:endParaRPr lang="vi-VN" dirty="0"/>
          </a:p>
        </p:txBody>
      </p:sp>
      <p:sp>
        <p:nvSpPr>
          <p:cNvPr id="15" name="Hộp Văn bản 14">
            <a:extLst>
              <a:ext uri="{FF2B5EF4-FFF2-40B4-BE49-F238E27FC236}">
                <a16:creationId xmlns:a16="http://schemas.microsoft.com/office/drawing/2014/main" id="{932D3E83-ACC0-2EA0-F0E7-93935E49E079}"/>
              </a:ext>
            </a:extLst>
          </p:cNvPr>
          <p:cNvSpPr txBox="1"/>
          <p:nvPr/>
        </p:nvSpPr>
        <p:spPr>
          <a:xfrm>
            <a:off x="558800" y="2826957"/>
            <a:ext cx="10439398" cy="523220"/>
          </a:xfrm>
          <a:prstGeom prst="rect">
            <a:avLst/>
          </a:prstGeom>
          <a:noFill/>
        </p:spPr>
        <p:txBody>
          <a:bodyPr wrap="square">
            <a:spAutoFit/>
          </a:bodyPr>
          <a:lstStyle/>
          <a:p>
            <a:pPr algn="ctr"/>
            <a:r>
              <a:rPr lang="vi-VN" sz="2800" b="0" i="0" u="none" strike="noStrike" dirty="0">
                <a:solidFill>
                  <a:srgbClr val="94A3B8"/>
                </a:solidFill>
                <a:effectLst/>
                <a:latin typeface="Plus Jakarta Sans"/>
              </a:rPr>
              <a:t>Báo cáo đồ án môn học: An Toàn và Bảo Mật Thông Tin</a:t>
            </a:r>
            <a:endParaRPr lang="vi-VN" sz="2800" dirty="0"/>
          </a:p>
        </p:txBody>
      </p:sp>
      <p:pic>
        <p:nvPicPr>
          <p:cNvPr id="16" name="Hình ảnh 15" descr="image.png">
            <a:extLst>
              <a:ext uri="{FF2B5EF4-FFF2-40B4-BE49-F238E27FC236}">
                <a16:creationId xmlns:a16="http://schemas.microsoft.com/office/drawing/2014/main" id="{D2DF626F-AAE0-E1C3-7ECD-87C644E0F8D3}"/>
              </a:ext>
            </a:extLst>
          </p:cNvPr>
          <p:cNvPicPr>
            <a:picLocks noChangeAspect="1"/>
          </p:cNvPicPr>
          <p:nvPr/>
        </p:nvPicPr>
        <p:blipFill>
          <a:blip r:embed="rId3"/>
          <a:stretch>
            <a:fillRect/>
          </a:stretch>
        </p:blipFill>
        <p:spPr>
          <a:xfrm>
            <a:off x="1937809" y="3705766"/>
            <a:ext cx="8096250" cy="2314033"/>
          </a:xfrm>
          <a:prstGeom prst="rect">
            <a:avLst/>
          </a:prstGeom>
        </p:spPr>
      </p:pic>
      <p:sp>
        <p:nvSpPr>
          <p:cNvPr id="20" name="Hộp Văn bản 19">
            <a:extLst>
              <a:ext uri="{FF2B5EF4-FFF2-40B4-BE49-F238E27FC236}">
                <a16:creationId xmlns:a16="http://schemas.microsoft.com/office/drawing/2014/main" id="{910B67E3-5821-2C65-9621-B4C42F16E7F1}"/>
              </a:ext>
            </a:extLst>
          </p:cNvPr>
          <p:cNvSpPr txBox="1"/>
          <p:nvPr/>
        </p:nvSpPr>
        <p:spPr>
          <a:xfrm>
            <a:off x="2475971" y="3940731"/>
            <a:ext cx="3081867" cy="369332"/>
          </a:xfrm>
          <a:prstGeom prst="rect">
            <a:avLst/>
          </a:prstGeom>
          <a:noFill/>
        </p:spPr>
        <p:txBody>
          <a:bodyPr wrap="square">
            <a:spAutoFit/>
          </a:bodyPr>
          <a:lstStyle/>
          <a:p>
            <a:r>
              <a:rPr lang="vi-VN" sz="1800" b="1" i="0" u="none" strike="noStrike" dirty="0">
                <a:solidFill>
                  <a:srgbClr val="38BDF8"/>
                </a:solidFill>
                <a:effectLst/>
              </a:rPr>
              <a:t>GIẢNG VIÊN HƯỚNG DẪN</a:t>
            </a:r>
            <a:endParaRPr lang="vi-VN" dirty="0"/>
          </a:p>
        </p:txBody>
      </p:sp>
      <p:sp>
        <p:nvSpPr>
          <p:cNvPr id="22" name="Hộp Văn bản 21">
            <a:extLst>
              <a:ext uri="{FF2B5EF4-FFF2-40B4-BE49-F238E27FC236}">
                <a16:creationId xmlns:a16="http://schemas.microsoft.com/office/drawing/2014/main" id="{BAA25ED8-908B-E255-CBB1-D41112168F62}"/>
              </a:ext>
            </a:extLst>
          </p:cNvPr>
          <p:cNvSpPr txBox="1"/>
          <p:nvPr/>
        </p:nvSpPr>
        <p:spPr>
          <a:xfrm>
            <a:off x="6095470" y="3940731"/>
            <a:ext cx="3861330" cy="338554"/>
          </a:xfrm>
          <a:prstGeom prst="rect">
            <a:avLst/>
          </a:prstGeom>
          <a:noFill/>
        </p:spPr>
        <p:txBody>
          <a:bodyPr wrap="square">
            <a:spAutoFit/>
          </a:bodyPr>
          <a:lstStyle/>
          <a:p>
            <a:pPr algn="ctr"/>
            <a:r>
              <a:rPr lang="vi-VN" sz="1600" b="1" i="0" u="none" strike="noStrike" dirty="0">
                <a:solidFill>
                  <a:srgbClr val="38BDF8"/>
                </a:solidFill>
                <a:effectLst/>
              </a:rPr>
              <a:t>SINH VIÊN THỰC HIỆN (NHÓM 6.K25)</a:t>
            </a:r>
            <a:endParaRPr lang="vi-VN" sz="1600" dirty="0"/>
          </a:p>
        </p:txBody>
      </p:sp>
      <p:sp>
        <p:nvSpPr>
          <p:cNvPr id="24" name="Hộp Văn bản 23">
            <a:extLst>
              <a:ext uri="{FF2B5EF4-FFF2-40B4-BE49-F238E27FC236}">
                <a16:creationId xmlns:a16="http://schemas.microsoft.com/office/drawing/2014/main" id="{70803631-CAE4-9CCA-C352-2AA60D61DCD3}"/>
              </a:ext>
            </a:extLst>
          </p:cNvPr>
          <p:cNvSpPr txBox="1"/>
          <p:nvPr/>
        </p:nvSpPr>
        <p:spPr>
          <a:xfrm>
            <a:off x="6392333" y="4429919"/>
            <a:ext cx="1998133" cy="369332"/>
          </a:xfrm>
          <a:prstGeom prst="rect">
            <a:avLst/>
          </a:prstGeom>
          <a:noFill/>
        </p:spPr>
        <p:txBody>
          <a:bodyPr wrap="square">
            <a:spAutoFit/>
          </a:bodyPr>
          <a:lstStyle/>
          <a:p>
            <a:r>
              <a:rPr lang="vi-VN" sz="1800" b="1" i="0" u="none" strike="noStrike" dirty="0">
                <a:solidFill>
                  <a:srgbClr val="FFFFFF"/>
                </a:solidFill>
                <a:effectLst/>
                <a:latin typeface="Plus Jakarta Sans"/>
              </a:rPr>
              <a:t>Phạm Hồng Anh</a:t>
            </a:r>
            <a:endParaRPr lang="vi-VN" dirty="0"/>
          </a:p>
        </p:txBody>
      </p:sp>
      <p:sp>
        <p:nvSpPr>
          <p:cNvPr id="26" name="Hộp Văn bản 25">
            <a:extLst>
              <a:ext uri="{FF2B5EF4-FFF2-40B4-BE49-F238E27FC236}">
                <a16:creationId xmlns:a16="http://schemas.microsoft.com/office/drawing/2014/main" id="{22FDF0FB-549C-FAF2-5FC3-2BF7A3DC1A81}"/>
              </a:ext>
            </a:extLst>
          </p:cNvPr>
          <p:cNvSpPr txBox="1"/>
          <p:nvPr/>
        </p:nvSpPr>
        <p:spPr>
          <a:xfrm>
            <a:off x="2604029" y="4878366"/>
            <a:ext cx="2819400" cy="369332"/>
          </a:xfrm>
          <a:prstGeom prst="rect">
            <a:avLst/>
          </a:prstGeom>
          <a:noFill/>
        </p:spPr>
        <p:txBody>
          <a:bodyPr wrap="square">
            <a:spAutoFit/>
          </a:bodyPr>
          <a:lstStyle/>
          <a:p>
            <a:r>
              <a:rPr lang="vi-VN" sz="1800" b="1" i="0" u="none" strike="noStrike" dirty="0" err="1">
                <a:solidFill>
                  <a:srgbClr val="FFFFFF"/>
                </a:solidFill>
                <a:effectLst/>
                <a:latin typeface="Plus Jakarta Sans"/>
              </a:rPr>
              <a:t>ThS</a:t>
            </a:r>
            <a:r>
              <a:rPr lang="vi-VN" sz="1800" b="1" i="0" u="none" strike="noStrike" dirty="0">
                <a:solidFill>
                  <a:srgbClr val="FFFFFF"/>
                </a:solidFill>
                <a:effectLst/>
                <a:latin typeface="Plus Jakarta Sans"/>
              </a:rPr>
              <a:t>. Nguyễn Thị Hồng Mai</a:t>
            </a:r>
            <a:endParaRPr lang="vi-VN" dirty="0"/>
          </a:p>
        </p:txBody>
      </p:sp>
      <p:sp>
        <p:nvSpPr>
          <p:cNvPr id="28" name="Hộp Văn bản 27">
            <a:extLst>
              <a:ext uri="{FF2B5EF4-FFF2-40B4-BE49-F238E27FC236}">
                <a16:creationId xmlns:a16="http://schemas.microsoft.com/office/drawing/2014/main" id="{A0C1729B-8DCA-D804-9C93-A95CA46C980E}"/>
              </a:ext>
            </a:extLst>
          </p:cNvPr>
          <p:cNvSpPr txBox="1"/>
          <p:nvPr/>
        </p:nvSpPr>
        <p:spPr>
          <a:xfrm>
            <a:off x="6392333" y="4843859"/>
            <a:ext cx="2175933" cy="369332"/>
          </a:xfrm>
          <a:prstGeom prst="rect">
            <a:avLst/>
          </a:prstGeom>
          <a:noFill/>
        </p:spPr>
        <p:txBody>
          <a:bodyPr wrap="square">
            <a:spAutoFit/>
          </a:bodyPr>
          <a:lstStyle/>
          <a:p>
            <a:r>
              <a:rPr lang="vi-VN" sz="1800" b="1" i="0" u="none" strike="noStrike" dirty="0">
                <a:solidFill>
                  <a:srgbClr val="FFFFFF"/>
                </a:solidFill>
                <a:effectLst/>
                <a:latin typeface="Plus Jakarta Sans"/>
              </a:rPr>
              <a:t>Vũ Thị Phương Linh</a:t>
            </a:r>
            <a:endParaRPr lang="vi-VN" dirty="0"/>
          </a:p>
        </p:txBody>
      </p:sp>
      <p:sp>
        <p:nvSpPr>
          <p:cNvPr id="30" name="Hộp Văn bản 29">
            <a:extLst>
              <a:ext uri="{FF2B5EF4-FFF2-40B4-BE49-F238E27FC236}">
                <a16:creationId xmlns:a16="http://schemas.microsoft.com/office/drawing/2014/main" id="{F432A8D6-2371-C90B-9891-D649E83F9814}"/>
              </a:ext>
            </a:extLst>
          </p:cNvPr>
          <p:cNvSpPr txBox="1"/>
          <p:nvPr/>
        </p:nvSpPr>
        <p:spPr>
          <a:xfrm>
            <a:off x="6413499" y="5281565"/>
            <a:ext cx="2133600" cy="369332"/>
          </a:xfrm>
          <a:prstGeom prst="rect">
            <a:avLst/>
          </a:prstGeom>
          <a:noFill/>
        </p:spPr>
        <p:txBody>
          <a:bodyPr wrap="square">
            <a:spAutoFit/>
          </a:bodyPr>
          <a:lstStyle/>
          <a:p>
            <a:r>
              <a:rPr lang="vi-VN" sz="1800" b="1" i="0" u="none" strike="noStrike" dirty="0">
                <a:solidFill>
                  <a:srgbClr val="FFFFFF"/>
                </a:solidFill>
                <a:effectLst/>
                <a:latin typeface="Plus Jakarta Sans"/>
              </a:rPr>
              <a:t>Bùi Đức Hữu Nhân</a:t>
            </a:r>
            <a:endParaRPr lang="vi-VN" dirty="0"/>
          </a:p>
        </p:txBody>
      </p:sp>
    </p:spTree>
    <p:extLst>
      <p:ext uri="{BB962C8B-B14F-4D97-AF65-F5344CB8AC3E}">
        <p14:creationId xmlns:p14="http://schemas.microsoft.com/office/powerpoint/2010/main" val="2725434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E722D6C-DCC8-C9F1-4E33-A05B65974F77}"/>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789E047F-5E7A-CEAD-ED0F-F7AC683E763B}"/>
              </a:ext>
            </a:extLst>
          </p:cNvPr>
          <p:cNvSpPr>
            <a:spLocks noGrp="1"/>
          </p:cNvSpPr>
          <p:nvPr>
            <p:ph idx="1"/>
          </p:nvPr>
        </p:nvSpPr>
        <p:spPr/>
        <p:txBody>
          <a:bodyPr/>
          <a:lstStyle/>
          <a:p>
            <a:endParaRPr lang="vi-VN"/>
          </a:p>
        </p:txBody>
      </p:sp>
      <p:pic>
        <p:nvPicPr>
          <p:cNvPr id="4" name="Hình ảnh 3" descr="image.png">
            <a:extLst>
              <a:ext uri="{FF2B5EF4-FFF2-40B4-BE49-F238E27FC236}">
                <a16:creationId xmlns:a16="http://schemas.microsoft.com/office/drawing/2014/main" id="{6C1B8A50-ECA7-A1F0-FFA6-3BB38AEB81C9}"/>
              </a:ext>
            </a:extLst>
          </p:cNvPr>
          <p:cNvPicPr>
            <a:picLocks noChangeAspect="1"/>
          </p:cNvPicPr>
          <p:nvPr/>
        </p:nvPicPr>
        <p:blipFill>
          <a:blip r:embed="rId2"/>
          <a:stretch>
            <a:fillRect/>
          </a:stretch>
        </p:blipFill>
        <p:spPr>
          <a:xfrm>
            <a:off x="838201" y="365125"/>
            <a:ext cx="10515600" cy="5890683"/>
          </a:xfrm>
          <a:prstGeom prst="rect">
            <a:avLst/>
          </a:prstGeom>
        </p:spPr>
      </p:pic>
      <p:sp>
        <p:nvSpPr>
          <p:cNvPr id="6" name="Hộp Văn bản 5">
            <a:extLst>
              <a:ext uri="{FF2B5EF4-FFF2-40B4-BE49-F238E27FC236}">
                <a16:creationId xmlns:a16="http://schemas.microsoft.com/office/drawing/2014/main" id="{99E7D08C-C1FC-EED4-9B7F-894AA80F51FC}"/>
              </a:ext>
            </a:extLst>
          </p:cNvPr>
          <p:cNvSpPr txBox="1"/>
          <p:nvPr/>
        </p:nvSpPr>
        <p:spPr>
          <a:xfrm>
            <a:off x="2209801" y="1027906"/>
            <a:ext cx="8390466" cy="646331"/>
          </a:xfrm>
          <a:prstGeom prst="rect">
            <a:avLst/>
          </a:prstGeom>
          <a:noFill/>
        </p:spPr>
        <p:txBody>
          <a:bodyPr wrap="square">
            <a:spAutoFit/>
          </a:bodyPr>
          <a:lstStyle/>
          <a:p>
            <a:r>
              <a:rPr lang="vi-VN" sz="3600" b="1" i="0" u="none" strike="noStrike" dirty="0">
                <a:solidFill>
                  <a:srgbClr val="FFFFFF"/>
                </a:solidFill>
                <a:effectLst/>
              </a:rPr>
              <a:t>Lời Mở Đầu</a:t>
            </a:r>
            <a:endParaRPr lang="vi-VN" sz="3600" dirty="0"/>
          </a:p>
        </p:txBody>
      </p:sp>
      <p:pic>
        <p:nvPicPr>
          <p:cNvPr id="7" name="Hình ảnh 6" descr="image.png">
            <a:extLst>
              <a:ext uri="{FF2B5EF4-FFF2-40B4-BE49-F238E27FC236}">
                <a16:creationId xmlns:a16="http://schemas.microsoft.com/office/drawing/2014/main" id="{B935A32C-A08E-41D6-595D-3BBE8C2E9A89}"/>
              </a:ext>
            </a:extLst>
          </p:cNvPr>
          <p:cNvPicPr>
            <a:picLocks noChangeAspect="1"/>
          </p:cNvPicPr>
          <p:nvPr/>
        </p:nvPicPr>
        <p:blipFill>
          <a:blip r:embed="rId3"/>
          <a:stretch>
            <a:fillRect/>
          </a:stretch>
        </p:blipFill>
        <p:spPr>
          <a:xfrm>
            <a:off x="1334559" y="2353469"/>
            <a:ext cx="4558242" cy="3217598"/>
          </a:xfrm>
          <a:prstGeom prst="rect">
            <a:avLst/>
          </a:prstGeom>
        </p:spPr>
      </p:pic>
      <p:sp>
        <p:nvSpPr>
          <p:cNvPr id="10" name="Hộp Văn bản 9">
            <a:extLst>
              <a:ext uri="{FF2B5EF4-FFF2-40B4-BE49-F238E27FC236}">
                <a16:creationId xmlns:a16="http://schemas.microsoft.com/office/drawing/2014/main" id="{7D8A79AF-973D-4861-1ABA-52D6D552E2B2}"/>
              </a:ext>
            </a:extLst>
          </p:cNvPr>
          <p:cNvSpPr txBox="1"/>
          <p:nvPr/>
        </p:nvSpPr>
        <p:spPr>
          <a:xfrm>
            <a:off x="1334558" y="2505671"/>
            <a:ext cx="4558243" cy="1015663"/>
          </a:xfrm>
          <a:prstGeom prst="rect">
            <a:avLst/>
          </a:prstGeom>
          <a:noFill/>
        </p:spPr>
        <p:txBody>
          <a:bodyPr wrap="square">
            <a:spAutoFit/>
          </a:bodyPr>
          <a:lstStyle/>
          <a:p>
            <a:pPr algn="ctr" rtl="0">
              <a:buNone/>
            </a:pPr>
            <a:r>
              <a:rPr lang="vi-VN" sz="2400" b="1" i="0" u="none" strike="noStrike" dirty="0">
                <a:solidFill>
                  <a:srgbClr val="00F2FE"/>
                </a:solidFill>
                <a:effectLst/>
              </a:rPr>
              <a:t>Thách Thức Bảo Mật</a:t>
            </a:r>
            <a:endParaRPr lang="vi-VN" sz="2400" b="0" dirty="0">
              <a:effectLst/>
            </a:endParaRPr>
          </a:p>
          <a:p>
            <a:pPr>
              <a:buNone/>
            </a:pPr>
            <a:br>
              <a:rPr lang="vi-VN" dirty="0"/>
            </a:br>
            <a:endParaRPr lang="vi-VN" dirty="0"/>
          </a:p>
        </p:txBody>
      </p:sp>
      <p:sp>
        <p:nvSpPr>
          <p:cNvPr id="12" name="Hộp Văn bản 11">
            <a:extLst>
              <a:ext uri="{FF2B5EF4-FFF2-40B4-BE49-F238E27FC236}">
                <a16:creationId xmlns:a16="http://schemas.microsoft.com/office/drawing/2014/main" id="{86B582CE-B978-CE13-903F-849888A73262}"/>
              </a:ext>
            </a:extLst>
          </p:cNvPr>
          <p:cNvSpPr txBox="1"/>
          <p:nvPr/>
        </p:nvSpPr>
        <p:spPr>
          <a:xfrm>
            <a:off x="1591733" y="3144765"/>
            <a:ext cx="3877734" cy="2031325"/>
          </a:xfrm>
          <a:prstGeom prst="rect">
            <a:avLst/>
          </a:prstGeom>
          <a:noFill/>
        </p:spPr>
        <p:txBody>
          <a:bodyPr wrap="square">
            <a:spAutoFit/>
          </a:bodyPr>
          <a:lstStyle/>
          <a:p>
            <a:r>
              <a:rPr lang="vi-VN" sz="1800" b="0" i="0" u="none" strike="noStrike" dirty="0">
                <a:solidFill>
                  <a:schemeClr val="bg1"/>
                </a:solidFill>
                <a:effectLst/>
              </a:rPr>
              <a:t>Trong kỷ nguyên số 4.0, bảo mật thông tin là cấp thiết. Hệ thống mã hóa cổ điển dựa trên độ khó toán học (như RSA, AES) đứng trước nguy cơ sụp đổ hoàn toàn trước sự ra đời nhanh chóng của máy tính lượng tử.</a:t>
            </a:r>
            <a:endParaRPr lang="vi-VN" dirty="0">
              <a:solidFill>
                <a:schemeClr val="bg1"/>
              </a:solidFill>
            </a:endParaRPr>
          </a:p>
        </p:txBody>
      </p:sp>
      <p:pic>
        <p:nvPicPr>
          <p:cNvPr id="13" name="Hình ảnh 12" descr="image.png">
            <a:extLst>
              <a:ext uri="{FF2B5EF4-FFF2-40B4-BE49-F238E27FC236}">
                <a16:creationId xmlns:a16="http://schemas.microsoft.com/office/drawing/2014/main" id="{351D6D83-5670-AEDB-C6BF-40CA200CDD27}"/>
              </a:ext>
            </a:extLst>
          </p:cNvPr>
          <p:cNvPicPr>
            <a:picLocks noChangeAspect="1"/>
          </p:cNvPicPr>
          <p:nvPr/>
        </p:nvPicPr>
        <p:blipFill>
          <a:blip r:embed="rId3"/>
          <a:stretch>
            <a:fillRect/>
          </a:stretch>
        </p:blipFill>
        <p:spPr>
          <a:xfrm>
            <a:off x="6570132" y="2353467"/>
            <a:ext cx="4453468" cy="3217599"/>
          </a:xfrm>
          <a:prstGeom prst="rect">
            <a:avLst/>
          </a:prstGeom>
        </p:spPr>
      </p:pic>
      <p:sp>
        <p:nvSpPr>
          <p:cNvPr id="15" name="Hộp Văn bản 14">
            <a:extLst>
              <a:ext uri="{FF2B5EF4-FFF2-40B4-BE49-F238E27FC236}">
                <a16:creationId xmlns:a16="http://schemas.microsoft.com/office/drawing/2014/main" id="{E9D4FB58-0EA7-A84F-E0CD-553C1CAC65AF}"/>
              </a:ext>
            </a:extLst>
          </p:cNvPr>
          <p:cNvSpPr txBox="1"/>
          <p:nvPr/>
        </p:nvSpPr>
        <p:spPr>
          <a:xfrm>
            <a:off x="6570132" y="2548004"/>
            <a:ext cx="4453468" cy="461665"/>
          </a:xfrm>
          <a:prstGeom prst="rect">
            <a:avLst/>
          </a:prstGeom>
          <a:noFill/>
        </p:spPr>
        <p:txBody>
          <a:bodyPr wrap="square">
            <a:spAutoFit/>
          </a:bodyPr>
          <a:lstStyle/>
          <a:p>
            <a:pPr algn="ctr"/>
            <a:r>
              <a:rPr lang="vi-VN" sz="2400" b="1" i="0" u="none" strike="noStrike" dirty="0">
                <a:solidFill>
                  <a:srgbClr val="00F2FE"/>
                </a:solidFill>
                <a:effectLst/>
              </a:rPr>
              <a:t>Kỷ Nguyên Mật Mã Mới</a:t>
            </a:r>
            <a:endParaRPr lang="vi-VN" sz="2400" dirty="0"/>
          </a:p>
        </p:txBody>
      </p:sp>
      <p:sp>
        <p:nvSpPr>
          <p:cNvPr id="17" name="Hộp Văn bản 16">
            <a:extLst>
              <a:ext uri="{FF2B5EF4-FFF2-40B4-BE49-F238E27FC236}">
                <a16:creationId xmlns:a16="http://schemas.microsoft.com/office/drawing/2014/main" id="{4DB72A2C-B9AD-F519-2D1B-9B77175BA959}"/>
              </a:ext>
            </a:extLst>
          </p:cNvPr>
          <p:cNvSpPr txBox="1"/>
          <p:nvPr/>
        </p:nvSpPr>
        <p:spPr>
          <a:xfrm>
            <a:off x="6807200" y="3144606"/>
            <a:ext cx="4050241" cy="1754326"/>
          </a:xfrm>
          <a:prstGeom prst="rect">
            <a:avLst/>
          </a:prstGeom>
          <a:noFill/>
        </p:spPr>
        <p:txBody>
          <a:bodyPr wrap="square">
            <a:spAutoFit/>
          </a:bodyPr>
          <a:lstStyle/>
          <a:p>
            <a:r>
              <a:rPr lang="vi-VN" sz="1800" b="0" i="0" u="none" strike="noStrike" dirty="0">
                <a:solidFill>
                  <a:schemeClr val="bg1"/>
                </a:solidFill>
                <a:effectLst/>
              </a:rPr>
              <a:t>Mật mã lượng tử dựa trên các quy luật cơ bản của tự nhiên (vật lý lượng tử), mang lại cơ chế an toàn vĩnh cửu, có khả năng phát hiện nghe lén tức thì nhờ nguyên lý đo lường làm biến đổi trạng thái hạt </a:t>
            </a:r>
            <a:r>
              <a:rPr lang="vi-VN" sz="1800" b="0" i="0" u="none" strike="noStrike" dirty="0" err="1">
                <a:solidFill>
                  <a:schemeClr val="bg1"/>
                </a:solidFill>
                <a:effectLst/>
              </a:rPr>
              <a:t>photon</a:t>
            </a:r>
            <a:r>
              <a:rPr lang="vi-VN" sz="1800" b="0" i="0" u="none" strike="noStrike" dirty="0">
                <a:solidFill>
                  <a:schemeClr val="bg1"/>
                </a:solidFill>
                <a:effectLst/>
              </a:rPr>
              <a:t>.</a:t>
            </a:r>
            <a:endParaRPr lang="vi-VN" dirty="0">
              <a:solidFill>
                <a:schemeClr val="bg1"/>
              </a:solidFill>
            </a:endParaRPr>
          </a:p>
        </p:txBody>
      </p:sp>
      <p:sp>
        <p:nvSpPr>
          <p:cNvPr id="19" name="Hộp Văn bản 18">
            <a:extLst>
              <a:ext uri="{FF2B5EF4-FFF2-40B4-BE49-F238E27FC236}">
                <a16:creationId xmlns:a16="http://schemas.microsoft.com/office/drawing/2014/main" id="{DB1D5790-BD3F-6F81-E4E5-A8C008A59DBC}"/>
              </a:ext>
            </a:extLst>
          </p:cNvPr>
          <p:cNvSpPr txBox="1"/>
          <p:nvPr/>
        </p:nvSpPr>
        <p:spPr>
          <a:xfrm>
            <a:off x="-1069219" y="1489571"/>
            <a:ext cx="6096000" cy="369332"/>
          </a:xfrm>
          <a:prstGeom prst="rect">
            <a:avLst/>
          </a:prstGeom>
          <a:noFill/>
        </p:spPr>
        <p:txBody>
          <a:bodyPr wrap="square">
            <a:spAutoFit/>
          </a:bodyPr>
          <a:lstStyle/>
          <a:p>
            <a:r>
              <a:rPr lang="vi-VN" b="0" dirty="0">
                <a:effectLst/>
              </a:rPr>
              <a:t> </a:t>
            </a:r>
            <a:endParaRPr lang="vi-VN" dirty="0"/>
          </a:p>
        </p:txBody>
      </p:sp>
      <p:sp>
        <p:nvSpPr>
          <p:cNvPr id="21" name="Hộp Văn bản 20">
            <a:extLst>
              <a:ext uri="{FF2B5EF4-FFF2-40B4-BE49-F238E27FC236}">
                <a16:creationId xmlns:a16="http://schemas.microsoft.com/office/drawing/2014/main" id="{A5BBA969-A356-4E96-AA34-EDB3DE901391}"/>
              </a:ext>
            </a:extLst>
          </p:cNvPr>
          <p:cNvSpPr txBox="1"/>
          <p:nvPr/>
        </p:nvSpPr>
        <p:spPr>
          <a:xfrm>
            <a:off x="-1703009" y="1120239"/>
            <a:ext cx="6629400" cy="369332"/>
          </a:xfrm>
          <a:prstGeom prst="rect">
            <a:avLst/>
          </a:prstGeom>
          <a:noFill/>
        </p:spPr>
        <p:txBody>
          <a:bodyPr wrap="square">
            <a:spAutoFit/>
          </a:bodyPr>
          <a:lstStyle/>
          <a:p>
            <a:r>
              <a:rPr lang="vi-VN" b="0" dirty="0">
                <a:effectLst/>
              </a:rPr>
              <a:t> </a:t>
            </a:r>
            <a:endParaRPr lang="vi-VN" dirty="0"/>
          </a:p>
        </p:txBody>
      </p:sp>
    </p:spTree>
    <p:extLst>
      <p:ext uri="{BB962C8B-B14F-4D97-AF65-F5344CB8AC3E}">
        <p14:creationId xmlns:p14="http://schemas.microsoft.com/office/powerpoint/2010/main" val="1875113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A0F98E4-48B5-9DD0-9EBC-B01919213731}"/>
              </a:ext>
            </a:extLst>
          </p:cNvPr>
          <p:cNvSpPr>
            <a:spLocks noGrp="1"/>
          </p:cNvSpPr>
          <p:nvPr>
            <p:ph type="title"/>
          </p:nvPr>
        </p:nvSpPr>
        <p:spPr/>
        <p:txBody>
          <a:bodyPr/>
          <a:lstStyle/>
          <a:p>
            <a:endParaRPr lang="vi-VN"/>
          </a:p>
        </p:txBody>
      </p:sp>
      <p:pic>
        <p:nvPicPr>
          <p:cNvPr id="4" name="Chỗ dành sẵn cho Nội dung 3" descr="image.png">
            <a:extLst>
              <a:ext uri="{FF2B5EF4-FFF2-40B4-BE49-F238E27FC236}">
                <a16:creationId xmlns:a16="http://schemas.microsoft.com/office/drawing/2014/main" id="{976F0A93-0A5D-E536-BA5C-24F3B7B80CDB}"/>
              </a:ext>
            </a:extLst>
          </p:cNvPr>
          <p:cNvPicPr>
            <a:picLocks noGrp="1" noChangeAspect="1"/>
          </p:cNvPicPr>
          <p:nvPr>
            <p:ph idx="1"/>
          </p:nvPr>
        </p:nvPicPr>
        <p:blipFill>
          <a:blip r:embed="rId2"/>
          <a:stretch>
            <a:fillRect/>
          </a:stretch>
        </p:blipFill>
        <p:spPr>
          <a:xfrm>
            <a:off x="838201" y="365125"/>
            <a:ext cx="10515599" cy="5811838"/>
          </a:xfrm>
          <a:prstGeom prst="rect">
            <a:avLst/>
          </a:prstGeom>
        </p:spPr>
      </p:pic>
      <p:sp>
        <p:nvSpPr>
          <p:cNvPr id="6" name="Hộp Văn bản 5">
            <a:extLst>
              <a:ext uri="{FF2B5EF4-FFF2-40B4-BE49-F238E27FC236}">
                <a16:creationId xmlns:a16="http://schemas.microsoft.com/office/drawing/2014/main" id="{A1CC2292-42AD-8B4B-9B62-D7C3283725F2}"/>
              </a:ext>
            </a:extLst>
          </p:cNvPr>
          <p:cNvSpPr txBox="1"/>
          <p:nvPr/>
        </p:nvSpPr>
        <p:spPr>
          <a:xfrm>
            <a:off x="1397000" y="843240"/>
            <a:ext cx="9541933" cy="461665"/>
          </a:xfrm>
          <a:prstGeom prst="rect">
            <a:avLst/>
          </a:prstGeom>
          <a:noFill/>
        </p:spPr>
        <p:txBody>
          <a:bodyPr wrap="square">
            <a:spAutoFit/>
          </a:bodyPr>
          <a:lstStyle/>
          <a:p>
            <a:r>
              <a:rPr lang="vi-VN" sz="2400" b="1" i="0" u="none" strike="noStrike" dirty="0">
                <a:solidFill>
                  <a:srgbClr val="FFFFFF"/>
                </a:solidFill>
                <a:effectLst/>
              </a:rPr>
              <a:t>Mục Lục &amp; Nội Dung Báo Cáo</a:t>
            </a:r>
            <a:endParaRPr lang="vi-VN" sz="2400" dirty="0"/>
          </a:p>
        </p:txBody>
      </p:sp>
      <p:sp>
        <p:nvSpPr>
          <p:cNvPr id="9" name="Hộp Văn bản 8">
            <a:extLst>
              <a:ext uri="{FF2B5EF4-FFF2-40B4-BE49-F238E27FC236}">
                <a16:creationId xmlns:a16="http://schemas.microsoft.com/office/drawing/2014/main" id="{5EACFCEE-CC52-898C-D496-5C38778F2C55}"/>
              </a:ext>
            </a:extLst>
          </p:cNvPr>
          <p:cNvSpPr txBox="1"/>
          <p:nvPr/>
        </p:nvSpPr>
        <p:spPr>
          <a:xfrm>
            <a:off x="1942043" y="1588441"/>
            <a:ext cx="9059332" cy="646331"/>
          </a:xfrm>
          <a:prstGeom prst="rect">
            <a:avLst/>
          </a:prstGeom>
          <a:noFill/>
        </p:spPr>
        <p:txBody>
          <a:bodyPr wrap="square">
            <a:spAutoFit/>
          </a:bodyPr>
          <a:lstStyle/>
          <a:p>
            <a:r>
              <a:rPr lang="vi-VN" sz="1800" b="1" i="0" u="none" strike="noStrike" dirty="0">
                <a:solidFill>
                  <a:srgbClr val="FFFFFF"/>
                </a:solidFill>
                <a:effectLst/>
              </a:rPr>
              <a:t>Chương 1: Tổng Quan Về Hệ Mật Mã Lượng Tử</a:t>
            </a:r>
            <a:r>
              <a:rPr lang="vi-VN" sz="1800" b="0" i="0" u="none" strike="noStrike" dirty="0">
                <a:solidFill>
                  <a:srgbClr val="9CA3AF"/>
                </a:solidFill>
                <a:effectLst/>
              </a:rPr>
              <a:t> - </a:t>
            </a:r>
            <a:r>
              <a:rPr lang="vi-VN" sz="1800" b="0" i="0" u="none" strike="noStrike" dirty="0">
                <a:solidFill>
                  <a:schemeClr val="bg1"/>
                </a:solidFill>
                <a:effectLst/>
              </a:rPr>
              <a:t>Khái niệm, vai trò, ứng dụng thực tế và sự khác biệt cơ bản với mật mã cổ điển.</a:t>
            </a:r>
            <a:endParaRPr lang="vi-VN" dirty="0">
              <a:solidFill>
                <a:schemeClr val="bg1"/>
              </a:solidFill>
            </a:endParaRPr>
          </a:p>
        </p:txBody>
      </p:sp>
      <p:pic>
        <p:nvPicPr>
          <p:cNvPr id="10" name="Hình ảnh 9" descr="image.png">
            <a:extLst>
              <a:ext uri="{FF2B5EF4-FFF2-40B4-BE49-F238E27FC236}">
                <a16:creationId xmlns:a16="http://schemas.microsoft.com/office/drawing/2014/main" id="{80806DF9-46C0-9F37-E3D0-0F98AE89B294}"/>
              </a:ext>
            </a:extLst>
          </p:cNvPr>
          <p:cNvPicPr>
            <a:picLocks noChangeAspect="1"/>
          </p:cNvPicPr>
          <p:nvPr/>
        </p:nvPicPr>
        <p:blipFill>
          <a:blip r:embed="rId3"/>
          <a:stretch>
            <a:fillRect/>
          </a:stretch>
        </p:blipFill>
        <p:spPr>
          <a:xfrm>
            <a:off x="1527705" y="1778531"/>
            <a:ext cx="123825" cy="257175"/>
          </a:xfrm>
          <a:prstGeom prst="rect">
            <a:avLst/>
          </a:prstGeom>
        </p:spPr>
      </p:pic>
      <p:pic>
        <p:nvPicPr>
          <p:cNvPr id="11" name="Hình ảnh 10" descr="image.png">
            <a:extLst>
              <a:ext uri="{FF2B5EF4-FFF2-40B4-BE49-F238E27FC236}">
                <a16:creationId xmlns:a16="http://schemas.microsoft.com/office/drawing/2014/main" id="{76BEB00A-3A5F-A9BF-C253-DBA8CA95F355}"/>
              </a:ext>
            </a:extLst>
          </p:cNvPr>
          <p:cNvPicPr>
            <a:picLocks noChangeAspect="1"/>
          </p:cNvPicPr>
          <p:nvPr/>
        </p:nvPicPr>
        <p:blipFill>
          <a:blip r:embed="rId4"/>
          <a:stretch>
            <a:fillRect/>
          </a:stretch>
        </p:blipFill>
        <p:spPr>
          <a:xfrm>
            <a:off x="1516596" y="2830512"/>
            <a:ext cx="161925" cy="257175"/>
          </a:xfrm>
          <a:prstGeom prst="rect">
            <a:avLst/>
          </a:prstGeom>
        </p:spPr>
      </p:pic>
      <p:sp>
        <p:nvSpPr>
          <p:cNvPr id="13" name="Hộp Văn bản 12">
            <a:extLst>
              <a:ext uri="{FF2B5EF4-FFF2-40B4-BE49-F238E27FC236}">
                <a16:creationId xmlns:a16="http://schemas.microsoft.com/office/drawing/2014/main" id="{18802BE2-BA68-5B69-F225-006A12DA8746}"/>
              </a:ext>
            </a:extLst>
          </p:cNvPr>
          <p:cNvSpPr txBox="1"/>
          <p:nvPr/>
        </p:nvSpPr>
        <p:spPr>
          <a:xfrm>
            <a:off x="1936753" y="2652712"/>
            <a:ext cx="8996890" cy="1200329"/>
          </a:xfrm>
          <a:prstGeom prst="rect">
            <a:avLst/>
          </a:prstGeom>
          <a:noFill/>
        </p:spPr>
        <p:txBody>
          <a:bodyPr wrap="square">
            <a:spAutoFit/>
          </a:bodyPr>
          <a:lstStyle/>
          <a:p>
            <a:pPr rtl="0">
              <a:buNone/>
            </a:pPr>
            <a:r>
              <a:rPr lang="vi-VN" sz="1800" b="1" i="0" u="none" strike="noStrike" dirty="0">
                <a:solidFill>
                  <a:srgbClr val="FFFFFF"/>
                </a:solidFill>
                <a:effectLst/>
              </a:rPr>
              <a:t>Chương 2: Cơ Chế Hoạt Động &amp; Giao Thức BB84</a:t>
            </a:r>
            <a:r>
              <a:rPr lang="vi-VN" sz="1800" b="0" i="0" u="none" strike="noStrike" dirty="0">
                <a:solidFill>
                  <a:srgbClr val="9CA3AF"/>
                </a:solidFill>
                <a:effectLst/>
              </a:rPr>
              <a:t> - </a:t>
            </a:r>
            <a:r>
              <a:rPr lang="vi-VN" sz="1800" b="0" i="0" u="none" strike="noStrike" dirty="0">
                <a:solidFill>
                  <a:schemeClr val="bg1"/>
                </a:solidFill>
                <a:effectLst/>
              </a:rPr>
              <a:t>Đi sâu vào 3 nguyên lý lượng tử cốt lõi và chi tiết quy trình truyền phát </a:t>
            </a:r>
            <a:r>
              <a:rPr lang="vi-VN" sz="1800" b="0" i="0" u="none" strike="noStrike" dirty="0" err="1">
                <a:solidFill>
                  <a:schemeClr val="bg1"/>
                </a:solidFill>
                <a:effectLst/>
              </a:rPr>
              <a:t>photon</a:t>
            </a:r>
            <a:r>
              <a:rPr lang="vi-VN" sz="1800" b="0" i="0" u="none" strike="noStrike" dirty="0">
                <a:solidFill>
                  <a:schemeClr val="bg1"/>
                </a:solidFill>
                <a:effectLst/>
              </a:rPr>
              <a:t> trong giao thức BB84.</a:t>
            </a:r>
            <a:endParaRPr lang="vi-VN" b="0" dirty="0">
              <a:solidFill>
                <a:schemeClr val="bg1"/>
              </a:solidFill>
              <a:effectLst/>
            </a:endParaRPr>
          </a:p>
          <a:p>
            <a:pPr>
              <a:buNone/>
            </a:pPr>
            <a:br>
              <a:rPr lang="vi-VN" dirty="0"/>
            </a:br>
            <a:endParaRPr lang="vi-VN" dirty="0"/>
          </a:p>
        </p:txBody>
      </p:sp>
      <p:pic>
        <p:nvPicPr>
          <p:cNvPr id="14" name="Hình ảnh 13" descr="image.png">
            <a:extLst>
              <a:ext uri="{FF2B5EF4-FFF2-40B4-BE49-F238E27FC236}">
                <a16:creationId xmlns:a16="http://schemas.microsoft.com/office/drawing/2014/main" id="{781DB636-8D2A-4BFA-CEC7-7A4E152BC006}"/>
              </a:ext>
            </a:extLst>
          </p:cNvPr>
          <p:cNvPicPr>
            <a:picLocks noChangeAspect="1"/>
          </p:cNvPicPr>
          <p:nvPr/>
        </p:nvPicPr>
        <p:blipFill>
          <a:blip r:embed="rId5"/>
          <a:stretch>
            <a:fillRect/>
          </a:stretch>
        </p:blipFill>
        <p:spPr>
          <a:xfrm>
            <a:off x="1508654" y="3882493"/>
            <a:ext cx="161925" cy="257175"/>
          </a:xfrm>
          <a:prstGeom prst="rect">
            <a:avLst/>
          </a:prstGeom>
        </p:spPr>
      </p:pic>
      <p:sp>
        <p:nvSpPr>
          <p:cNvPr id="16" name="Hộp Văn bản 15">
            <a:extLst>
              <a:ext uri="{FF2B5EF4-FFF2-40B4-BE49-F238E27FC236}">
                <a16:creationId xmlns:a16="http://schemas.microsoft.com/office/drawing/2014/main" id="{4A96418B-ABD0-996A-946D-CACC1A551564}"/>
              </a:ext>
            </a:extLst>
          </p:cNvPr>
          <p:cNvSpPr txBox="1"/>
          <p:nvPr/>
        </p:nvSpPr>
        <p:spPr>
          <a:xfrm>
            <a:off x="1936752" y="3678003"/>
            <a:ext cx="8996889" cy="646331"/>
          </a:xfrm>
          <a:prstGeom prst="rect">
            <a:avLst/>
          </a:prstGeom>
          <a:noFill/>
        </p:spPr>
        <p:txBody>
          <a:bodyPr wrap="square">
            <a:spAutoFit/>
          </a:bodyPr>
          <a:lstStyle/>
          <a:p>
            <a:r>
              <a:rPr lang="vi-VN" sz="1800" b="1" i="0" u="none" strike="noStrike" dirty="0">
                <a:solidFill>
                  <a:srgbClr val="FFFFFF"/>
                </a:solidFill>
                <a:effectLst/>
              </a:rPr>
              <a:t>Chương 3: Điều Kiện Xây Dựng Hệ Thống</a:t>
            </a:r>
            <a:r>
              <a:rPr lang="vi-VN" sz="1800" b="0" i="0" u="none" strike="noStrike" dirty="0">
                <a:solidFill>
                  <a:srgbClr val="9CA3AF"/>
                </a:solidFill>
                <a:effectLst/>
              </a:rPr>
              <a:t> - </a:t>
            </a:r>
            <a:r>
              <a:rPr lang="vi-VN" sz="1800" b="0" i="0" u="none" strike="noStrike" dirty="0">
                <a:solidFill>
                  <a:schemeClr val="bg1"/>
                </a:solidFill>
                <a:effectLst/>
              </a:rPr>
              <a:t>Yêu cầu công nghệ đầu cuối (phát/thu </a:t>
            </a:r>
            <a:r>
              <a:rPr lang="vi-VN" sz="1800" b="0" i="0" u="none" strike="noStrike" dirty="0" err="1">
                <a:solidFill>
                  <a:schemeClr val="bg1"/>
                </a:solidFill>
                <a:effectLst/>
              </a:rPr>
              <a:t>photon</a:t>
            </a:r>
            <a:r>
              <a:rPr lang="vi-VN" sz="1800" b="0" i="0" u="none" strike="noStrike" dirty="0">
                <a:solidFill>
                  <a:schemeClr val="bg1"/>
                </a:solidFill>
                <a:effectLst/>
              </a:rPr>
              <a:t>), đồng bộ thời gian và rào cản chi phí thực tế.</a:t>
            </a:r>
            <a:endParaRPr lang="vi-VN" dirty="0">
              <a:solidFill>
                <a:schemeClr val="bg1"/>
              </a:solidFill>
            </a:endParaRPr>
          </a:p>
        </p:txBody>
      </p:sp>
      <p:pic>
        <p:nvPicPr>
          <p:cNvPr id="17" name="Hình ảnh 16" descr="image.png">
            <a:extLst>
              <a:ext uri="{FF2B5EF4-FFF2-40B4-BE49-F238E27FC236}">
                <a16:creationId xmlns:a16="http://schemas.microsoft.com/office/drawing/2014/main" id="{A66AD12B-E62B-8BBC-1397-5C25895D1E58}"/>
              </a:ext>
            </a:extLst>
          </p:cNvPr>
          <p:cNvPicPr>
            <a:picLocks noChangeAspect="1"/>
          </p:cNvPicPr>
          <p:nvPr/>
        </p:nvPicPr>
        <p:blipFill>
          <a:blip r:embed="rId6"/>
          <a:stretch>
            <a:fillRect/>
          </a:stretch>
        </p:blipFill>
        <p:spPr>
          <a:xfrm>
            <a:off x="1527705" y="4934474"/>
            <a:ext cx="190500" cy="257175"/>
          </a:xfrm>
          <a:prstGeom prst="rect">
            <a:avLst/>
          </a:prstGeom>
        </p:spPr>
      </p:pic>
      <p:sp>
        <p:nvSpPr>
          <p:cNvPr id="19" name="Hộp Văn bản 18">
            <a:extLst>
              <a:ext uri="{FF2B5EF4-FFF2-40B4-BE49-F238E27FC236}">
                <a16:creationId xmlns:a16="http://schemas.microsoft.com/office/drawing/2014/main" id="{DE6A4754-F9D4-4FA8-6775-0EACC030966D}"/>
              </a:ext>
            </a:extLst>
          </p:cNvPr>
          <p:cNvSpPr txBox="1"/>
          <p:nvPr/>
        </p:nvSpPr>
        <p:spPr>
          <a:xfrm>
            <a:off x="1936752" y="4739895"/>
            <a:ext cx="9064623" cy="646331"/>
          </a:xfrm>
          <a:prstGeom prst="rect">
            <a:avLst/>
          </a:prstGeom>
          <a:noFill/>
        </p:spPr>
        <p:txBody>
          <a:bodyPr wrap="square">
            <a:spAutoFit/>
          </a:bodyPr>
          <a:lstStyle/>
          <a:p>
            <a:r>
              <a:rPr lang="vi-VN" sz="1800" b="1" i="0" u="none" strike="noStrike" dirty="0">
                <a:solidFill>
                  <a:srgbClr val="FFFFFF"/>
                </a:solidFill>
                <a:effectLst/>
              </a:rPr>
              <a:t>Chương 4: Đánh Giá &amp; Định Hướng Tương Lai</a:t>
            </a:r>
            <a:r>
              <a:rPr lang="vi-VN" sz="1800" b="0" i="0" u="none" strike="noStrike" dirty="0">
                <a:solidFill>
                  <a:srgbClr val="9CA3AF"/>
                </a:solidFill>
                <a:effectLst/>
              </a:rPr>
              <a:t> - </a:t>
            </a:r>
            <a:r>
              <a:rPr lang="vi-VN" sz="1800" b="0" i="0" u="none" strike="noStrike" dirty="0">
                <a:solidFill>
                  <a:schemeClr val="bg1"/>
                </a:solidFill>
                <a:effectLst/>
              </a:rPr>
              <a:t>Các ưu điểm vượt trội, hạn chế khoảng cách truyền dẫn và xu hướng </a:t>
            </a:r>
            <a:r>
              <a:rPr lang="vi-VN" sz="1800" b="0" i="0" u="none" strike="noStrike" dirty="0" err="1">
                <a:solidFill>
                  <a:schemeClr val="bg1"/>
                </a:solidFill>
                <a:effectLst/>
              </a:rPr>
              <a:t>Internet</a:t>
            </a:r>
            <a:r>
              <a:rPr lang="vi-VN" sz="1800" b="0" i="0" u="none" strike="noStrike" dirty="0">
                <a:solidFill>
                  <a:schemeClr val="bg1"/>
                </a:solidFill>
                <a:effectLst/>
              </a:rPr>
              <a:t> lượng tử an toàn </a:t>
            </a:r>
            <a:r>
              <a:rPr lang="vi-VN" sz="1800" b="0" i="0" u="none" strike="noStrike" dirty="0" err="1">
                <a:solidFill>
                  <a:schemeClr val="bg1"/>
                </a:solidFill>
                <a:effectLst/>
              </a:rPr>
              <a:t>toàn</a:t>
            </a:r>
            <a:r>
              <a:rPr lang="vi-VN" sz="1800" b="0" i="0" u="none" strike="noStrike" dirty="0">
                <a:solidFill>
                  <a:schemeClr val="bg1"/>
                </a:solidFill>
                <a:effectLst/>
              </a:rPr>
              <a:t> cầu.</a:t>
            </a:r>
            <a:endParaRPr lang="vi-VN" dirty="0">
              <a:solidFill>
                <a:schemeClr val="bg1"/>
              </a:solidFill>
            </a:endParaRPr>
          </a:p>
        </p:txBody>
      </p:sp>
    </p:spTree>
    <p:extLst>
      <p:ext uri="{BB962C8B-B14F-4D97-AF65-F5344CB8AC3E}">
        <p14:creationId xmlns:p14="http://schemas.microsoft.com/office/powerpoint/2010/main" val="1530953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5E74A1F-D21B-013F-9761-73DB820C805E}"/>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C55F8585-A42D-E981-EC56-9BC541381524}"/>
              </a:ext>
            </a:extLst>
          </p:cNvPr>
          <p:cNvSpPr>
            <a:spLocks noGrp="1"/>
          </p:cNvSpPr>
          <p:nvPr>
            <p:ph idx="1"/>
          </p:nvPr>
        </p:nvSpPr>
        <p:spPr/>
        <p:txBody>
          <a:bodyPr/>
          <a:lstStyle/>
          <a:p>
            <a:endParaRPr lang="vi-VN"/>
          </a:p>
        </p:txBody>
      </p:sp>
      <p:pic>
        <p:nvPicPr>
          <p:cNvPr id="4" name="Hình ảnh 3" descr="image.png">
            <a:extLst>
              <a:ext uri="{FF2B5EF4-FFF2-40B4-BE49-F238E27FC236}">
                <a16:creationId xmlns:a16="http://schemas.microsoft.com/office/drawing/2014/main" id="{4F7D5E37-A27D-0D69-180A-897420D03C88}"/>
              </a:ext>
            </a:extLst>
          </p:cNvPr>
          <p:cNvPicPr>
            <a:picLocks noChangeAspect="1"/>
          </p:cNvPicPr>
          <p:nvPr/>
        </p:nvPicPr>
        <p:blipFill>
          <a:blip r:embed="rId2"/>
          <a:stretch>
            <a:fillRect/>
          </a:stretch>
        </p:blipFill>
        <p:spPr>
          <a:xfrm>
            <a:off x="838200" y="365125"/>
            <a:ext cx="10515600" cy="5825067"/>
          </a:xfrm>
          <a:prstGeom prst="rect">
            <a:avLst/>
          </a:prstGeom>
        </p:spPr>
      </p:pic>
      <p:sp>
        <p:nvSpPr>
          <p:cNvPr id="6" name="Hộp Văn bản 5">
            <a:extLst>
              <a:ext uri="{FF2B5EF4-FFF2-40B4-BE49-F238E27FC236}">
                <a16:creationId xmlns:a16="http://schemas.microsoft.com/office/drawing/2014/main" id="{D2870189-491C-382C-2F44-F4F63FD32986}"/>
              </a:ext>
            </a:extLst>
          </p:cNvPr>
          <p:cNvSpPr txBox="1"/>
          <p:nvPr/>
        </p:nvSpPr>
        <p:spPr>
          <a:xfrm>
            <a:off x="838200" y="1571535"/>
            <a:ext cx="10515600" cy="2308324"/>
          </a:xfrm>
          <a:prstGeom prst="rect">
            <a:avLst/>
          </a:prstGeom>
          <a:noFill/>
        </p:spPr>
        <p:txBody>
          <a:bodyPr wrap="square">
            <a:spAutoFit/>
          </a:bodyPr>
          <a:lstStyle/>
          <a:p>
            <a:pPr algn="ctr" rtl="0">
              <a:buNone/>
            </a:pPr>
            <a:r>
              <a:rPr lang="vi-VN" sz="3600" b="1" i="0" u="none" strike="noStrike" dirty="0">
                <a:solidFill>
                  <a:srgbClr val="FFFFFF"/>
                </a:solidFill>
                <a:effectLst/>
              </a:rPr>
              <a:t>CHƯƠNG 1</a:t>
            </a:r>
          </a:p>
          <a:p>
            <a:pPr algn="ctr" rtl="0">
              <a:buNone/>
            </a:pPr>
            <a:br>
              <a:rPr lang="vi-VN" sz="3600" b="0" i="0" u="none" strike="noStrike" dirty="0">
                <a:solidFill>
                  <a:srgbClr val="000000"/>
                </a:solidFill>
                <a:effectLst/>
              </a:rPr>
            </a:br>
            <a:r>
              <a:rPr lang="vi-VN" sz="3600" b="1" i="0" u="none" strike="noStrike" dirty="0">
                <a:solidFill>
                  <a:srgbClr val="FFFFFF"/>
                </a:solidFill>
                <a:effectLst/>
              </a:rPr>
              <a:t>TỔNG QUAN VỀ HỆ MẬT MÃ LƯỢNG TỬ</a:t>
            </a:r>
            <a:endParaRPr lang="vi-VN" sz="3600" b="0" dirty="0">
              <a:effectLst/>
            </a:endParaRPr>
          </a:p>
          <a:p>
            <a:pPr>
              <a:buNone/>
            </a:pPr>
            <a:br>
              <a:rPr lang="vi-VN" dirty="0"/>
            </a:br>
            <a:endParaRPr lang="vi-VN" dirty="0"/>
          </a:p>
        </p:txBody>
      </p:sp>
      <p:sp>
        <p:nvSpPr>
          <p:cNvPr id="8" name="Hộp Văn bản 7">
            <a:extLst>
              <a:ext uri="{FF2B5EF4-FFF2-40B4-BE49-F238E27FC236}">
                <a16:creationId xmlns:a16="http://schemas.microsoft.com/office/drawing/2014/main" id="{22585D9E-2A15-3721-E6CF-1FBE7864F7B8}"/>
              </a:ext>
            </a:extLst>
          </p:cNvPr>
          <p:cNvSpPr txBox="1"/>
          <p:nvPr/>
        </p:nvSpPr>
        <p:spPr>
          <a:xfrm>
            <a:off x="1490134" y="3601184"/>
            <a:ext cx="9211732" cy="400110"/>
          </a:xfrm>
          <a:prstGeom prst="rect">
            <a:avLst/>
          </a:prstGeom>
          <a:noFill/>
        </p:spPr>
        <p:txBody>
          <a:bodyPr wrap="square">
            <a:spAutoFit/>
          </a:bodyPr>
          <a:lstStyle/>
          <a:p>
            <a:pPr algn="ctr"/>
            <a:r>
              <a:rPr lang="vi-VN" sz="2000" b="0" i="0" u="none" strike="noStrike" dirty="0">
                <a:solidFill>
                  <a:schemeClr val="bg1"/>
                </a:solidFill>
                <a:effectLst/>
              </a:rPr>
              <a:t>( Khái niệm, sự khác biệt và vai trò then chốt trong an toàn thông tin hiện đại )</a:t>
            </a:r>
            <a:endParaRPr lang="vi-VN" sz="2000" dirty="0">
              <a:solidFill>
                <a:schemeClr val="bg1"/>
              </a:solidFill>
            </a:endParaRPr>
          </a:p>
        </p:txBody>
      </p:sp>
      <p:sp>
        <p:nvSpPr>
          <p:cNvPr id="10" name="Hộp Văn bản 9">
            <a:extLst>
              <a:ext uri="{FF2B5EF4-FFF2-40B4-BE49-F238E27FC236}">
                <a16:creationId xmlns:a16="http://schemas.microsoft.com/office/drawing/2014/main" id="{7C305625-816D-6E55-FE13-31BA14BDC66A}"/>
              </a:ext>
            </a:extLst>
          </p:cNvPr>
          <p:cNvSpPr txBox="1"/>
          <p:nvPr/>
        </p:nvSpPr>
        <p:spPr>
          <a:xfrm>
            <a:off x="2980266" y="1188974"/>
            <a:ext cx="6096000" cy="369332"/>
          </a:xfrm>
          <a:prstGeom prst="rect">
            <a:avLst/>
          </a:prstGeom>
          <a:noFill/>
        </p:spPr>
        <p:txBody>
          <a:bodyPr wrap="square">
            <a:spAutoFit/>
          </a:bodyPr>
          <a:lstStyle/>
          <a:p>
            <a:r>
              <a:rPr lang="vi-VN" b="0" dirty="0">
                <a:effectLst/>
              </a:rPr>
              <a:t> </a:t>
            </a:r>
            <a:endParaRPr lang="vi-VN" dirty="0"/>
          </a:p>
        </p:txBody>
      </p:sp>
    </p:spTree>
    <p:extLst>
      <p:ext uri="{BB962C8B-B14F-4D97-AF65-F5344CB8AC3E}">
        <p14:creationId xmlns:p14="http://schemas.microsoft.com/office/powerpoint/2010/main" val="2465664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Hình ảnh 6" descr="image.png">
            <a:extLst>
              <a:ext uri="{FF2B5EF4-FFF2-40B4-BE49-F238E27FC236}">
                <a16:creationId xmlns:a16="http://schemas.microsoft.com/office/drawing/2014/main" id="{401201A8-CAD7-4B49-95B6-CE182ED5E616}"/>
              </a:ext>
            </a:extLst>
          </p:cNvPr>
          <p:cNvPicPr>
            <a:picLocks noChangeAspect="1"/>
          </p:cNvPicPr>
          <p:nvPr/>
        </p:nvPicPr>
        <p:blipFill>
          <a:blip r:embed="rId2"/>
          <a:stretch>
            <a:fillRect/>
          </a:stretch>
        </p:blipFill>
        <p:spPr>
          <a:xfrm>
            <a:off x="7112000" y="1295672"/>
            <a:ext cx="3753908" cy="4642094"/>
          </a:xfrm>
          <a:prstGeom prst="rect">
            <a:avLst/>
          </a:prstGeom>
        </p:spPr>
      </p:pic>
      <p:sp>
        <p:nvSpPr>
          <p:cNvPr id="9" name="Hộp Văn bản 8">
            <a:extLst>
              <a:ext uri="{FF2B5EF4-FFF2-40B4-BE49-F238E27FC236}">
                <a16:creationId xmlns:a16="http://schemas.microsoft.com/office/drawing/2014/main" id="{8585CB09-D342-8097-5C16-6B166EFD27FB}"/>
              </a:ext>
            </a:extLst>
          </p:cNvPr>
          <p:cNvSpPr txBox="1"/>
          <p:nvPr/>
        </p:nvSpPr>
        <p:spPr>
          <a:xfrm>
            <a:off x="1168399" y="1937006"/>
            <a:ext cx="3293534" cy="1015663"/>
          </a:xfrm>
          <a:prstGeom prst="rect">
            <a:avLst/>
          </a:prstGeom>
          <a:noFill/>
        </p:spPr>
        <p:txBody>
          <a:bodyPr wrap="square">
            <a:spAutoFit/>
          </a:bodyPr>
          <a:lstStyle/>
          <a:p>
            <a:pPr rtl="0">
              <a:buNone/>
            </a:pPr>
            <a:r>
              <a:rPr lang="vi-VN" sz="2400" b="1" i="0" u="none" strike="noStrike" dirty="0">
                <a:solidFill>
                  <a:srgbClr val="0070C0"/>
                </a:solidFill>
                <a:effectLst/>
              </a:rPr>
              <a:t>Định Nghĩa Cơ Bản</a:t>
            </a:r>
            <a:endParaRPr lang="vi-VN" sz="2400" b="0" dirty="0">
              <a:solidFill>
                <a:srgbClr val="0070C0"/>
              </a:solidFill>
              <a:effectLst/>
            </a:endParaRPr>
          </a:p>
          <a:p>
            <a:pPr>
              <a:buNone/>
            </a:pPr>
            <a:br>
              <a:rPr lang="vi-VN" dirty="0"/>
            </a:br>
            <a:endParaRPr lang="vi-VN" dirty="0"/>
          </a:p>
        </p:txBody>
      </p:sp>
      <p:sp>
        <p:nvSpPr>
          <p:cNvPr id="11" name="Hộp Văn bản 10">
            <a:extLst>
              <a:ext uri="{FF2B5EF4-FFF2-40B4-BE49-F238E27FC236}">
                <a16:creationId xmlns:a16="http://schemas.microsoft.com/office/drawing/2014/main" id="{35F51ABB-D19E-67E5-EA85-7CAFB3E0A80A}"/>
              </a:ext>
            </a:extLst>
          </p:cNvPr>
          <p:cNvSpPr txBox="1"/>
          <p:nvPr/>
        </p:nvSpPr>
        <p:spPr>
          <a:xfrm>
            <a:off x="1168399" y="2496803"/>
            <a:ext cx="5190067" cy="2031325"/>
          </a:xfrm>
          <a:prstGeom prst="rect">
            <a:avLst/>
          </a:prstGeom>
          <a:noFill/>
        </p:spPr>
        <p:txBody>
          <a:bodyPr wrap="square">
            <a:spAutoFit/>
          </a:bodyPr>
          <a:lstStyle/>
          <a:p>
            <a:pPr rtl="0">
              <a:buNone/>
            </a:pPr>
            <a:r>
              <a:rPr lang="vi-VN" sz="1800" b="0" i="0" u="none" strike="noStrike" dirty="0">
                <a:effectLst/>
              </a:rPr>
              <a:t>Hệ mật mã lượng tử </a:t>
            </a:r>
            <a:r>
              <a:rPr lang="vi-VN" sz="1800" b="1" i="0" u="none" strike="noStrike" dirty="0">
                <a:effectLst/>
              </a:rPr>
              <a:t>(</a:t>
            </a:r>
            <a:r>
              <a:rPr lang="vi-VN" sz="1800" b="1" i="0" u="none" strike="noStrike" dirty="0" err="1">
                <a:effectLst/>
              </a:rPr>
              <a:t>Quantum</a:t>
            </a:r>
            <a:r>
              <a:rPr lang="vi-VN" sz="1800" b="1" i="0" u="none" strike="noStrike" dirty="0">
                <a:effectLst/>
              </a:rPr>
              <a:t> </a:t>
            </a:r>
            <a:r>
              <a:rPr lang="vi-VN" sz="1800" b="1" i="0" u="none" strike="noStrike" dirty="0" err="1">
                <a:effectLst/>
              </a:rPr>
              <a:t>Cryptography</a:t>
            </a:r>
            <a:r>
              <a:rPr lang="vi-VN" sz="1800" b="1" i="0" u="none" strike="noStrike" dirty="0">
                <a:effectLst/>
              </a:rPr>
              <a:t>)</a:t>
            </a:r>
            <a:r>
              <a:rPr lang="vi-VN" sz="1800" b="0" i="0" u="none" strike="noStrike" dirty="0">
                <a:effectLst/>
              </a:rPr>
              <a:t> là hệ thống bảo mật thông tin ứng dụng trực tiếp các nguyên lý cơ học lượng tử để thực hiện việc mã hóa, truyền tải và bảo mật khóa dữ liệu an toàn.</a:t>
            </a:r>
            <a:endParaRPr lang="vi-VN" b="0" dirty="0">
              <a:effectLst/>
            </a:endParaRPr>
          </a:p>
          <a:p>
            <a:pPr>
              <a:buNone/>
            </a:pPr>
            <a:br>
              <a:rPr lang="vi-VN" dirty="0"/>
            </a:br>
            <a:endParaRPr lang="vi-VN" dirty="0"/>
          </a:p>
        </p:txBody>
      </p:sp>
      <p:sp>
        <p:nvSpPr>
          <p:cNvPr id="13" name="Hộp Văn bản 12">
            <a:extLst>
              <a:ext uri="{FF2B5EF4-FFF2-40B4-BE49-F238E27FC236}">
                <a16:creationId xmlns:a16="http://schemas.microsoft.com/office/drawing/2014/main" id="{CDDC4E43-070C-98EC-5CC8-512B52D7FD24}"/>
              </a:ext>
            </a:extLst>
          </p:cNvPr>
          <p:cNvSpPr txBox="1"/>
          <p:nvPr/>
        </p:nvSpPr>
        <p:spPr>
          <a:xfrm>
            <a:off x="1168399" y="4186062"/>
            <a:ext cx="5190067" cy="1200329"/>
          </a:xfrm>
          <a:prstGeom prst="rect">
            <a:avLst/>
          </a:prstGeom>
          <a:noFill/>
        </p:spPr>
        <p:txBody>
          <a:bodyPr wrap="square">
            <a:spAutoFit/>
          </a:bodyPr>
          <a:lstStyle/>
          <a:p>
            <a:r>
              <a:rPr lang="vi-VN" sz="1800" b="0" i="0" u="none" strike="noStrike" dirty="0">
                <a:effectLst/>
              </a:rPr>
              <a:t>Thay vì dựa vào các bài toán </a:t>
            </a:r>
            <a:r>
              <a:rPr lang="vi-VN" sz="1800" b="0" i="0" u="none" strike="noStrike" dirty="0" err="1">
                <a:effectLst/>
              </a:rPr>
              <a:t>toán</a:t>
            </a:r>
            <a:r>
              <a:rPr lang="vi-VN" sz="1800" b="0" i="0" u="none" strike="noStrike" dirty="0">
                <a:effectLst/>
              </a:rPr>
              <a:t> học phức tạp cực kỳ tốn thời gian tính toán, hệ thống này khai thác trực tiếp các đặc tính vật lý không thể phá vỡ của các hạt ánh sáng đơn lẻ </a:t>
            </a:r>
            <a:r>
              <a:rPr lang="vi-VN" sz="1800" b="1" i="0" u="none" strike="noStrike" dirty="0">
                <a:effectLst/>
              </a:rPr>
              <a:t>(</a:t>
            </a:r>
            <a:r>
              <a:rPr lang="vi-VN" sz="1800" b="1" i="0" u="none" strike="noStrike" dirty="0" err="1">
                <a:effectLst/>
              </a:rPr>
              <a:t>photon</a:t>
            </a:r>
            <a:r>
              <a:rPr lang="vi-VN" sz="1800" b="1" i="0" u="none" strike="noStrike" dirty="0">
                <a:effectLst/>
              </a:rPr>
              <a:t>).</a:t>
            </a:r>
            <a:endParaRPr lang="vi-VN" b="1" dirty="0"/>
          </a:p>
        </p:txBody>
      </p:sp>
      <p:sp>
        <p:nvSpPr>
          <p:cNvPr id="21" name="Tiêu đề 20">
            <a:extLst>
              <a:ext uri="{FF2B5EF4-FFF2-40B4-BE49-F238E27FC236}">
                <a16:creationId xmlns:a16="http://schemas.microsoft.com/office/drawing/2014/main" id="{0AAFE4C5-CCB6-8C30-0810-F8E96121A949}"/>
              </a:ext>
            </a:extLst>
          </p:cNvPr>
          <p:cNvSpPr txBox="1">
            <a:spLocks noGrp="1"/>
          </p:cNvSpPr>
          <p:nvPr>
            <p:ph type="title"/>
          </p:nvPr>
        </p:nvSpPr>
        <p:spPr>
          <a:xfrm>
            <a:off x="838200" y="760141"/>
            <a:ext cx="10515600" cy="535531"/>
          </a:xfrm>
          <a:prstGeom prst="rect">
            <a:avLst/>
          </a:prstGeom>
          <a:noFill/>
        </p:spPr>
        <p:txBody>
          <a:bodyPr wrap="square">
            <a:spAutoFit/>
          </a:bodyPr>
          <a:lstStyle/>
          <a:p>
            <a:r>
              <a:rPr lang="vi-VN" sz="3200" b="1" dirty="0">
                <a:latin typeface="+mn-lt"/>
              </a:rPr>
              <a:t>Khái Niệm Hệ Mật Mã Lượng Tử</a:t>
            </a:r>
            <a:endParaRPr lang="vi-VN" sz="3200" dirty="0">
              <a:latin typeface="+mn-lt"/>
            </a:endParaRPr>
          </a:p>
        </p:txBody>
      </p:sp>
    </p:spTree>
    <p:extLst>
      <p:ext uri="{BB962C8B-B14F-4D97-AF65-F5344CB8AC3E}">
        <p14:creationId xmlns:p14="http://schemas.microsoft.com/office/powerpoint/2010/main" val="711562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60344A1-D049-50D8-FE76-83A73DCA832E}"/>
              </a:ext>
            </a:extLst>
          </p:cNvPr>
          <p:cNvSpPr>
            <a:spLocks noGrp="1"/>
          </p:cNvSpPr>
          <p:nvPr>
            <p:ph type="title"/>
          </p:nvPr>
        </p:nvSpPr>
        <p:spPr>
          <a:xfrm>
            <a:off x="605366" y="365125"/>
            <a:ext cx="10748434" cy="1325563"/>
          </a:xfrm>
        </p:spPr>
        <p:txBody>
          <a:bodyPr>
            <a:normAutofit/>
          </a:bodyPr>
          <a:lstStyle/>
          <a:p>
            <a:r>
              <a:rPr lang="vi-VN" sz="3200" b="1" dirty="0">
                <a:latin typeface="+mn-lt"/>
              </a:rPr>
              <a:t>Các Đặc Điểm Chính Của Hệ Thống</a:t>
            </a:r>
            <a:endParaRPr lang="vi-VN" sz="3200" dirty="0">
              <a:latin typeface="+mn-lt"/>
            </a:endParaRPr>
          </a:p>
        </p:txBody>
      </p:sp>
      <p:pic>
        <p:nvPicPr>
          <p:cNvPr id="4" name="Chỗ dành sẵn cho Nội dung 3" descr="image.png">
            <a:extLst>
              <a:ext uri="{FF2B5EF4-FFF2-40B4-BE49-F238E27FC236}">
                <a16:creationId xmlns:a16="http://schemas.microsoft.com/office/drawing/2014/main" id="{9DA17428-2952-9C35-616E-E45F33ADBF12}"/>
              </a:ext>
            </a:extLst>
          </p:cNvPr>
          <p:cNvPicPr>
            <a:picLocks noGrp="1" noChangeAspect="1"/>
          </p:cNvPicPr>
          <p:nvPr>
            <p:ph idx="1"/>
          </p:nvPr>
        </p:nvPicPr>
        <p:blipFill>
          <a:blip r:embed="rId2"/>
          <a:stretch>
            <a:fillRect/>
          </a:stretch>
        </p:blipFill>
        <p:spPr>
          <a:xfrm>
            <a:off x="605366" y="2258219"/>
            <a:ext cx="3429000" cy="3638550"/>
          </a:xfrm>
          <a:prstGeom prst="rect">
            <a:avLst/>
          </a:prstGeom>
        </p:spPr>
      </p:pic>
      <p:pic>
        <p:nvPicPr>
          <p:cNvPr id="5" name="Hình ảnh 4" descr="image.png">
            <a:extLst>
              <a:ext uri="{FF2B5EF4-FFF2-40B4-BE49-F238E27FC236}">
                <a16:creationId xmlns:a16="http://schemas.microsoft.com/office/drawing/2014/main" id="{2146640B-9117-678F-D53F-399439DF8405}"/>
              </a:ext>
            </a:extLst>
          </p:cNvPr>
          <p:cNvPicPr>
            <a:picLocks noChangeAspect="1"/>
          </p:cNvPicPr>
          <p:nvPr/>
        </p:nvPicPr>
        <p:blipFill>
          <a:blip r:embed="rId3"/>
          <a:stretch>
            <a:fillRect/>
          </a:stretch>
        </p:blipFill>
        <p:spPr>
          <a:xfrm>
            <a:off x="1953153" y="2613553"/>
            <a:ext cx="733425" cy="733425"/>
          </a:xfrm>
          <a:prstGeom prst="rect">
            <a:avLst/>
          </a:prstGeom>
        </p:spPr>
      </p:pic>
      <p:pic>
        <p:nvPicPr>
          <p:cNvPr id="6" name="Hình ảnh 5" descr="image.png">
            <a:extLst>
              <a:ext uri="{FF2B5EF4-FFF2-40B4-BE49-F238E27FC236}">
                <a16:creationId xmlns:a16="http://schemas.microsoft.com/office/drawing/2014/main" id="{C4851B99-7F61-C137-D665-DF4C3671D1F0}"/>
              </a:ext>
            </a:extLst>
          </p:cNvPr>
          <p:cNvPicPr>
            <a:picLocks noChangeAspect="1"/>
          </p:cNvPicPr>
          <p:nvPr/>
        </p:nvPicPr>
        <p:blipFill>
          <a:blip r:embed="rId4"/>
          <a:stretch>
            <a:fillRect/>
          </a:stretch>
        </p:blipFill>
        <p:spPr>
          <a:xfrm>
            <a:off x="2134127" y="2779846"/>
            <a:ext cx="371475" cy="371475"/>
          </a:xfrm>
          <a:prstGeom prst="rect">
            <a:avLst/>
          </a:prstGeom>
        </p:spPr>
      </p:pic>
      <p:sp>
        <p:nvSpPr>
          <p:cNvPr id="8" name="Hộp Văn bản 7">
            <a:extLst>
              <a:ext uri="{FF2B5EF4-FFF2-40B4-BE49-F238E27FC236}">
                <a16:creationId xmlns:a16="http://schemas.microsoft.com/office/drawing/2014/main" id="{720C66EC-AC0E-8078-6AFC-06C141F04EB7}"/>
              </a:ext>
            </a:extLst>
          </p:cNvPr>
          <p:cNvSpPr txBox="1"/>
          <p:nvPr/>
        </p:nvSpPr>
        <p:spPr>
          <a:xfrm>
            <a:off x="732364" y="4016553"/>
            <a:ext cx="3175000" cy="1477328"/>
          </a:xfrm>
          <a:prstGeom prst="rect">
            <a:avLst/>
          </a:prstGeom>
          <a:noFill/>
        </p:spPr>
        <p:txBody>
          <a:bodyPr wrap="square">
            <a:spAutoFit/>
          </a:bodyPr>
          <a:lstStyle/>
          <a:p>
            <a:r>
              <a:rPr lang="vi-VN" dirty="0">
                <a:solidFill>
                  <a:schemeClr val="bg1"/>
                </a:solidFill>
              </a:rPr>
              <a:t>Khai thác trực tiếp các hiện tượng tự nhiên như tính bất định </a:t>
            </a:r>
            <a:r>
              <a:rPr lang="vi-VN" b="1" dirty="0" err="1">
                <a:solidFill>
                  <a:schemeClr val="bg1"/>
                </a:solidFill>
              </a:rPr>
              <a:t>Heisenberg</a:t>
            </a:r>
            <a:r>
              <a:rPr lang="vi-VN" dirty="0">
                <a:solidFill>
                  <a:schemeClr val="bg1"/>
                </a:solidFill>
              </a:rPr>
              <a:t>, tính chồng chập trạng thái và tính rối lượng tử.</a:t>
            </a:r>
          </a:p>
        </p:txBody>
      </p:sp>
      <p:pic>
        <p:nvPicPr>
          <p:cNvPr id="9" name="Hình ảnh 8" descr="image.png">
            <a:extLst>
              <a:ext uri="{FF2B5EF4-FFF2-40B4-BE49-F238E27FC236}">
                <a16:creationId xmlns:a16="http://schemas.microsoft.com/office/drawing/2014/main" id="{7258477C-D9AC-CC1C-D17C-2903B20EC414}"/>
              </a:ext>
            </a:extLst>
          </p:cNvPr>
          <p:cNvPicPr>
            <a:picLocks noChangeAspect="1"/>
          </p:cNvPicPr>
          <p:nvPr/>
        </p:nvPicPr>
        <p:blipFill>
          <a:blip r:embed="rId5"/>
          <a:stretch>
            <a:fillRect/>
          </a:stretch>
        </p:blipFill>
        <p:spPr>
          <a:xfrm>
            <a:off x="4381500" y="2258219"/>
            <a:ext cx="3429000" cy="3638550"/>
          </a:xfrm>
          <a:prstGeom prst="rect">
            <a:avLst/>
          </a:prstGeom>
        </p:spPr>
      </p:pic>
      <p:pic>
        <p:nvPicPr>
          <p:cNvPr id="10" name="Hình ảnh 9" descr="image.png">
            <a:extLst>
              <a:ext uri="{FF2B5EF4-FFF2-40B4-BE49-F238E27FC236}">
                <a16:creationId xmlns:a16="http://schemas.microsoft.com/office/drawing/2014/main" id="{8404AE21-3387-28C8-B6B8-E6175AA407DD}"/>
              </a:ext>
            </a:extLst>
          </p:cNvPr>
          <p:cNvPicPr>
            <a:picLocks noChangeAspect="1"/>
          </p:cNvPicPr>
          <p:nvPr/>
        </p:nvPicPr>
        <p:blipFill>
          <a:blip r:embed="rId6"/>
          <a:stretch>
            <a:fillRect/>
          </a:stretch>
        </p:blipFill>
        <p:spPr>
          <a:xfrm>
            <a:off x="8157634" y="2258219"/>
            <a:ext cx="3429000" cy="3638550"/>
          </a:xfrm>
          <a:prstGeom prst="rect">
            <a:avLst/>
          </a:prstGeom>
        </p:spPr>
      </p:pic>
      <p:sp>
        <p:nvSpPr>
          <p:cNvPr id="12" name="Hộp Văn bản 11">
            <a:extLst>
              <a:ext uri="{FF2B5EF4-FFF2-40B4-BE49-F238E27FC236}">
                <a16:creationId xmlns:a16="http://schemas.microsoft.com/office/drawing/2014/main" id="{56825305-62E9-2863-E6FF-F9DC137E70F3}"/>
              </a:ext>
            </a:extLst>
          </p:cNvPr>
          <p:cNvSpPr txBox="1"/>
          <p:nvPr/>
        </p:nvSpPr>
        <p:spPr>
          <a:xfrm>
            <a:off x="3048000" y="3244334"/>
            <a:ext cx="6096000" cy="369332"/>
          </a:xfrm>
          <a:prstGeom prst="rect">
            <a:avLst/>
          </a:prstGeom>
          <a:noFill/>
        </p:spPr>
        <p:txBody>
          <a:bodyPr wrap="square">
            <a:spAutoFit/>
          </a:bodyPr>
          <a:lstStyle/>
          <a:p>
            <a:r>
              <a:rPr lang="vi-VN" b="0" dirty="0">
                <a:effectLst/>
              </a:rPr>
              <a:t> </a:t>
            </a:r>
            <a:endParaRPr lang="vi-VN" dirty="0"/>
          </a:p>
        </p:txBody>
      </p:sp>
      <p:pic>
        <p:nvPicPr>
          <p:cNvPr id="13" name="Hình ảnh 12" descr="image.png">
            <a:extLst>
              <a:ext uri="{FF2B5EF4-FFF2-40B4-BE49-F238E27FC236}">
                <a16:creationId xmlns:a16="http://schemas.microsoft.com/office/drawing/2014/main" id="{698380F1-A78B-C823-D1EF-20ADCA09C31E}"/>
              </a:ext>
            </a:extLst>
          </p:cNvPr>
          <p:cNvPicPr>
            <a:picLocks noChangeAspect="1"/>
          </p:cNvPicPr>
          <p:nvPr/>
        </p:nvPicPr>
        <p:blipFill>
          <a:blip r:embed="rId7"/>
          <a:stretch>
            <a:fillRect/>
          </a:stretch>
        </p:blipFill>
        <p:spPr>
          <a:xfrm>
            <a:off x="5734050" y="2613553"/>
            <a:ext cx="723900" cy="733425"/>
          </a:xfrm>
          <a:prstGeom prst="rect">
            <a:avLst/>
          </a:prstGeom>
        </p:spPr>
      </p:pic>
      <p:pic>
        <p:nvPicPr>
          <p:cNvPr id="14" name="Hình ảnh 13" descr="image.png">
            <a:extLst>
              <a:ext uri="{FF2B5EF4-FFF2-40B4-BE49-F238E27FC236}">
                <a16:creationId xmlns:a16="http://schemas.microsoft.com/office/drawing/2014/main" id="{AA930B3A-D113-649C-CFE0-047D115A4FB7}"/>
              </a:ext>
            </a:extLst>
          </p:cNvPr>
          <p:cNvPicPr>
            <a:picLocks noChangeAspect="1"/>
          </p:cNvPicPr>
          <p:nvPr/>
        </p:nvPicPr>
        <p:blipFill>
          <a:blip r:embed="rId7"/>
          <a:stretch>
            <a:fillRect/>
          </a:stretch>
        </p:blipFill>
        <p:spPr>
          <a:xfrm>
            <a:off x="9514947" y="2613553"/>
            <a:ext cx="723900" cy="733425"/>
          </a:xfrm>
          <a:prstGeom prst="rect">
            <a:avLst/>
          </a:prstGeom>
        </p:spPr>
      </p:pic>
      <p:pic>
        <p:nvPicPr>
          <p:cNvPr id="15" name="Hình ảnh 14" descr="image.png">
            <a:extLst>
              <a:ext uri="{FF2B5EF4-FFF2-40B4-BE49-F238E27FC236}">
                <a16:creationId xmlns:a16="http://schemas.microsoft.com/office/drawing/2014/main" id="{065A35CB-B29D-DD88-AA37-7EA423A1548C}"/>
              </a:ext>
            </a:extLst>
          </p:cNvPr>
          <p:cNvPicPr>
            <a:picLocks noChangeAspect="1"/>
          </p:cNvPicPr>
          <p:nvPr/>
        </p:nvPicPr>
        <p:blipFill>
          <a:blip r:embed="rId8"/>
          <a:stretch>
            <a:fillRect/>
          </a:stretch>
        </p:blipFill>
        <p:spPr>
          <a:xfrm>
            <a:off x="5867400" y="2791908"/>
            <a:ext cx="457200" cy="371475"/>
          </a:xfrm>
          <a:prstGeom prst="rect">
            <a:avLst/>
          </a:prstGeom>
        </p:spPr>
      </p:pic>
      <p:pic>
        <p:nvPicPr>
          <p:cNvPr id="16" name="Hình ảnh 15" descr="image.png">
            <a:extLst>
              <a:ext uri="{FF2B5EF4-FFF2-40B4-BE49-F238E27FC236}">
                <a16:creationId xmlns:a16="http://schemas.microsoft.com/office/drawing/2014/main" id="{60E37135-3B77-8A3E-0D1F-E0CED94F0312}"/>
              </a:ext>
            </a:extLst>
          </p:cNvPr>
          <p:cNvPicPr>
            <a:picLocks noChangeAspect="1"/>
          </p:cNvPicPr>
          <p:nvPr/>
        </p:nvPicPr>
        <p:blipFill>
          <a:blip r:embed="rId9"/>
          <a:stretch>
            <a:fillRect/>
          </a:stretch>
        </p:blipFill>
        <p:spPr>
          <a:xfrm>
            <a:off x="9686396" y="2779845"/>
            <a:ext cx="371475" cy="371475"/>
          </a:xfrm>
          <a:prstGeom prst="rect">
            <a:avLst/>
          </a:prstGeom>
        </p:spPr>
      </p:pic>
      <p:sp>
        <p:nvSpPr>
          <p:cNvPr id="18" name="Hộp Văn bản 17">
            <a:extLst>
              <a:ext uri="{FF2B5EF4-FFF2-40B4-BE49-F238E27FC236}">
                <a16:creationId xmlns:a16="http://schemas.microsoft.com/office/drawing/2014/main" id="{F27F0080-F349-4A6A-674F-5F514E326270}"/>
              </a:ext>
            </a:extLst>
          </p:cNvPr>
          <p:cNvSpPr txBox="1"/>
          <p:nvPr/>
        </p:nvSpPr>
        <p:spPr>
          <a:xfrm>
            <a:off x="4395788" y="3477411"/>
            <a:ext cx="3414712" cy="400110"/>
          </a:xfrm>
          <a:prstGeom prst="rect">
            <a:avLst/>
          </a:prstGeom>
          <a:noFill/>
        </p:spPr>
        <p:txBody>
          <a:bodyPr wrap="square">
            <a:spAutoFit/>
          </a:bodyPr>
          <a:lstStyle/>
          <a:p>
            <a:pPr algn="ctr"/>
            <a:r>
              <a:rPr lang="vi-VN" sz="2000" b="1" i="0" u="none" strike="noStrike" dirty="0">
                <a:solidFill>
                  <a:srgbClr val="00F2FE"/>
                </a:solidFill>
                <a:effectLst/>
              </a:rPr>
              <a:t>Chống Nghe Lén</a:t>
            </a:r>
            <a:endParaRPr lang="vi-VN" sz="2000" dirty="0"/>
          </a:p>
        </p:txBody>
      </p:sp>
      <p:sp>
        <p:nvSpPr>
          <p:cNvPr id="20" name="Hộp Văn bản 19">
            <a:extLst>
              <a:ext uri="{FF2B5EF4-FFF2-40B4-BE49-F238E27FC236}">
                <a16:creationId xmlns:a16="http://schemas.microsoft.com/office/drawing/2014/main" id="{F1FE2410-3E8D-CCA4-BDEA-3E9475007836}"/>
              </a:ext>
            </a:extLst>
          </p:cNvPr>
          <p:cNvSpPr txBox="1"/>
          <p:nvPr/>
        </p:nvSpPr>
        <p:spPr>
          <a:xfrm>
            <a:off x="605366" y="3500398"/>
            <a:ext cx="3405187" cy="400110"/>
          </a:xfrm>
          <a:prstGeom prst="rect">
            <a:avLst/>
          </a:prstGeom>
          <a:noFill/>
        </p:spPr>
        <p:txBody>
          <a:bodyPr wrap="square">
            <a:spAutoFit/>
          </a:bodyPr>
          <a:lstStyle/>
          <a:p>
            <a:pPr algn="ctr"/>
            <a:r>
              <a:rPr lang="vi-VN" sz="2000" b="1" i="0" u="none" strike="noStrike" dirty="0">
                <a:solidFill>
                  <a:srgbClr val="00F2FE"/>
                </a:solidFill>
                <a:effectLst/>
              </a:rPr>
              <a:t>Nguyên Lý Vật Lý</a:t>
            </a:r>
            <a:endParaRPr lang="vi-VN" sz="2000" dirty="0"/>
          </a:p>
        </p:txBody>
      </p:sp>
      <p:sp>
        <p:nvSpPr>
          <p:cNvPr id="22" name="Hộp Văn bản 21">
            <a:extLst>
              <a:ext uri="{FF2B5EF4-FFF2-40B4-BE49-F238E27FC236}">
                <a16:creationId xmlns:a16="http://schemas.microsoft.com/office/drawing/2014/main" id="{3836BD50-DF4B-A359-B7E1-A67A1EE5A16F}"/>
              </a:ext>
            </a:extLst>
          </p:cNvPr>
          <p:cNvSpPr txBox="1"/>
          <p:nvPr/>
        </p:nvSpPr>
        <p:spPr>
          <a:xfrm>
            <a:off x="8157634" y="3477411"/>
            <a:ext cx="3414712" cy="400110"/>
          </a:xfrm>
          <a:prstGeom prst="rect">
            <a:avLst/>
          </a:prstGeom>
          <a:noFill/>
        </p:spPr>
        <p:txBody>
          <a:bodyPr wrap="square">
            <a:spAutoFit/>
          </a:bodyPr>
          <a:lstStyle/>
          <a:p>
            <a:pPr algn="ctr"/>
            <a:r>
              <a:rPr lang="vi-VN" sz="2000" b="1" i="0" u="none" strike="noStrike" dirty="0">
                <a:solidFill>
                  <a:srgbClr val="00F2FE"/>
                </a:solidFill>
                <a:effectLst/>
              </a:rPr>
              <a:t>Bảo Mật Vĩnh Cửu</a:t>
            </a:r>
            <a:endParaRPr lang="vi-VN" sz="2000" dirty="0"/>
          </a:p>
        </p:txBody>
      </p:sp>
      <p:sp>
        <p:nvSpPr>
          <p:cNvPr id="24" name="Hộp Văn bản 23">
            <a:extLst>
              <a:ext uri="{FF2B5EF4-FFF2-40B4-BE49-F238E27FC236}">
                <a16:creationId xmlns:a16="http://schemas.microsoft.com/office/drawing/2014/main" id="{C73B5FC3-162A-8F39-7D92-39B34D60E2BB}"/>
              </a:ext>
            </a:extLst>
          </p:cNvPr>
          <p:cNvSpPr txBox="1"/>
          <p:nvPr/>
        </p:nvSpPr>
        <p:spPr>
          <a:xfrm>
            <a:off x="4618566" y="4016553"/>
            <a:ext cx="3257021" cy="1477328"/>
          </a:xfrm>
          <a:prstGeom prst="rect">
            <a:avLst/>
          </a:prstGeom>
          <a:noFill/>
        </p:spPr>
        <p:txBody>
          <a:bodyPr wrap="square">
            <a:spAutoFit/>
          </a:bodyPr>
          <a:lstStyle/>
          <a:p>
            <a:r>
              <a:rPr lang="vi-VN" sz="1800" b="0" i="0" u="none" strike="noStrike" dirty="0">
                <a:solidFill>
                  <a:schemeClr val="bg1"/>
                </a:solidFill>
                <a:effectLst/>
              </a:rPr>
              <a:t>Mọi hành vi trộm khóa (</a:t>
            </a:r>
            <a:r>
              <a:rPr lang="vi-VN" sz="1800" b="0" i="0" u="none" strike="noStrike" dirty="0" err="1">
                <a:solidFill>
                  <a:schemeClr val="bg1"/>
                </a:solidFill>
                <a:effectLst/>
              </a:rPr>
              <a:t>Eve</a:t>
            </a:r>
            <a:r>
              <a:rPr lang="vi-VN" sz="1800" b="0" i="0" u="none" strike="noStrike" dirty="0">
                <a:solidFill>
                  <a:schemeClr val="bg1"/>
                </a:solidFill>
                <a:effectLst/>
              </a:rPr>
              <a:t>) đều để lại dấu vết tức thì do trạng thái lượng tử của hạt </a:t>
            </a:r>
            <a:r>
              <a:rPr lang="vi-VN" sz="1800" b="0" i="0" u="none" strike="noStrike" dirty="0" err="1">
                <a:solidFill>
                  <a:schemeClr val="bg1"/>
                </a:solidFill>
                <a:effectLst/>
              </a:rPr>
              <a:t>photon</a:t>
            </a:r>
            <a:r>
              <a:rPr lang="vi-VN" sz="1800" b="0" i="0" u="none" strike="noStrike" dirty="0">
                <a:solidFill>
                  <a:schemeClr val="bg1"/>
                </a:solidFill>
                <a:effectLst/>
              </a:rPr>
              <a:t> bị sụp đổ ngay khi đo đạc.</a:t>
            </a:r>
            <a:endParaRPr lang="vi-VN" dirty="0">
              <a:solidFill>
                <a:schemeClr val="bg1"/>
              </a:solidFill>
            </a:endParaRPr>
          </a:p>
        </p:txBody>
      </p:sp>
      <p:sp>
        <p:nvSpPr>
          <p:cNvPr id="26" name="Hộp Văn bản 25">
            <a:extLst>
              <a:ext uri="{FF2B5EF4-FFF2-40B4-BE49-F238E27FC236}">
                <a16:creationId xmlns:a16="http://schemas.microsoft.com/office/drawing/2014/main" id="{ECE5C632-533F-2E7F-FB67-EFC97889F3D1}"/>
              </a:ext>
            </a:extLst>
          </p:cNvPr>
          <p:cNvSpPr txBox="1"/>
          <p:nvPr/>
        </p:nvSpPr>
        <p:spPr>
          <a:xfrm>
            <a:off x="8314268" y="4016553"/>
            <a:ext cx="3145368" cy="1477328"/>
          </a:xfrm>
          <a:prstGeom prst="rect">
            <a:avLst/>
          </a:prstGeom>
          <a:noFill/>
        </p:spPr>
        <p:txBody>
          <a:bodyPr wrap="square">
            <a:spAutoFit/>
          </a:bodyPr>
          <a:lstStyle/>
          <a:p>
            <a:r>
              <a:rPr lang="vi-VN" sz="1800" b="0" i="0" u="none" strike="noStrike" dirty="0">
                <a:solidFill>
                  <a:srgbClr val="FFFFFF"/>
                </a:solidFill>
                <a:effectLst/>
              </a:rPr>
              <a:t>Độ an toàn dựa trên định luật vật lý bất biến, không phụ thuộc vào giới hạn năng lực siêu tính toán của máy tính lượng tử.</a:t>
            </a:r>
            <a:endParaRPr lang="vi-VN" dirty="0"/>
          </a:p>
        </p:txBody>
      </p:sp>
    </p:spTree>
    <p:extLst>
      <p:ext uri="{BB962C8B-B14F-4D97-AF65-F5344CB8AC3E}">
        <p14:creationId xmlns:p14="http://schemas.microsoft.com/office/powerpoint/2010/main" val="425838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BA72F83-F5EE-5999-4CDB-E12733F003C6}"/>
              </a:ext>
            </a:extLst>
          </p:cNvPr>
          <p:cNvSpPr>
            <a:spLocks noGrp="1"/>
          </p:cNvSpPr>
          <p:nvPr>
            <p:ph type="title"/>
          </p:nvPr>
        </p:nvSpPr>
        <p:spPr/>
        <p:txBody>
          <a:bodyPr>
            <a:normAutofit/>
          </a:bodyPr>
          <a:lstStyle/>
          <a:p>
            <a:r>
              <a:rPr lang="vi-VN" sz="3200" b="1" dirty="0">
                <a:latin typeface="+mn-lt"/>
              </a:rPr>
              <a:t>So Sánh Mật Mã Cổ Điển &amp; Lượng Tử</a:t>
            </a:r>
            <a:endParaRPr lang="vi-VN" sz="3200" dirty="0">
              <a:latin typeface="+mn-lt"/>
            </a:endParaRPr>
          </a:p>
        </p:txBody>
      </p:sp>
      <p:graphicFrame>
        <p:nvGraphicFramePr>
          <p:cNvPr id="4" name="Chỗ dành sẵn cho Nội dung 3">
            <a:extLst>
              <a:ext uri="{FF2B5EF4-FFF2-40B4-BE49-F238E27FC236}">
                <a16:creationId xmlns:a16="http://schemas.microsoft.com/office/drawing/2014/main" id="{4D337F11-866A-2043-B2D8-C79281ED8738}"/>
              </a:ext>
            </a:extLst>
          </p:cNvPr>
          <p:cNvGraphicFramePr>
            <a:graphicFrameLocks noGrp="1"/>
          </p:cNvGraphicFramePr>
          <p:nvPr>
            <p:ph idx="1"/>
            <p:extLst>
              <p:ext uri="{D42A27DB-BD31-4B8C-83A1-F6EECF244321}">
                <p14:modId xmlns:p14="http://schemas.microsoft.com/office/powerpoint/2010/main" val="225613307"/>
              </p:ext>
            </p:extLst>
          </p:nvPr>
        </p:nvGraphicFramePr>
        <p:xfrm>
          <a:off x="618068" y="1591734"/>
          <a:ext cx="10515600" cy="4409810"/>
        </p:xfrm>
        <a:graphic>
          <a:graphicData uri="http://schemas.openxmlformats.org/drawingml/2006/table">
            <a:tbl>
              <a:tblPr/>
              <a:tblGrid>
                <a:gridCol w="3090189">
                  <a:extLst>
                    <a:ext uri="{9D8B030D-6E8A-4147-A177-3AD203B41FA5}">
                      <a16:colId xmlns:a16="http://schemas.microsoft.com/office/drawing/2014/main" val="3384306766"/>
                    </a:ext>
                  </a:extLst>
                </a:gridCol>
                <a:gridCol w="3869454">
                  <a:extLst>
                    <a:ext uri="{9D8B030D-6E8A-4147-A177-3AD203B41FA5}">
                      <a16:colId xmlns:a16="http://schemas.microsoft.com/office/drawing/2014/main" val="794110016"/>
                    </a:ext>
                  </a:extLst>
                </a:gridCol>
                <a:gridCol w="3555957">
                  <a:extLst>
                    <a:ext uri="{9D8B030D-6E8A-4147-A177-3AD203B41FA5}">
                      <a16:colId xmlns:a16="http://schemas.microsoft.com/office/drawing/2014/main" val="1964548579"/>
                    </a:ext>
                  </a:extLst>
                </a:gridCol>
              </a:tblGrid>
              <a:tr h="881962">
                <a:tc>
                  <a:txBody>
                    <a:bodyPr/>
                    <a:lstStyle/>
                    <a:p>
                      <a:pPr rtl="0" fontAlgn="ctr">
                        <a:buNone/>
                      </a:pPr>
                      <a:r>
                        <a:rPr lang="vi-VN" sz="1800" b="1" i="0" u="none" strike="noStrike" dirty="0">
                          <a:solidFill>
                            <a:srgbClr val="FFFFFF"/>
                          </a:solidFill>
                          <a:effectLst/>
                          <a:latin typeface="+mn-lt"/>
                        </a:rPr>
                        <a:t>Tiêu chí so sánh</a:t>
                      </a:r>
                      <a:endParaRPr lang="vi-VN" sz="1800" dirty="0">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1" i="0" u="none" strike="noStrike">
                          <a:solidFill>
                            <a:srgbClr val="FFFFFF"/>
                          </a:solidFill>
                          <a:effectLst/>
                          <a:latin typeface="+mn-lt"/>
                        </a:rPr>
                        <a:t>Mật mã cổ điển</a:t>
                      </a:r>
                      <a:endParaRPr lang="vi-VN" sz="1800">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1" i="0" u="none" strike="noStrike">
                          <a:solidFill>
                            <a:srgbClr val="FFFFFF"/>
                          </a:solidFill>
                          <a:effectLst/>
                          <a:latin typeface="+mn-lt"/>
                        </a:rPr>
                        <a:t>Mật mã lượng tử</a:t>
                      </a:r>
                      <a:endParaRPr lang="vi-VN" sz="1800">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extLst>
                  <a:ext uri="{0D108BD9-81ED-4DB2-BD59-A6C34878D82A}">
                    <a16:rowId xmlns:a16="http://schemas.microsoft.com/office/drawing/2014/main" val="734888565"/>
                  </a:ext>
                </a:extLst>
              </a:tr>
              <a:tr h="881962">
                <a:tc>
                  <a:txBody>
                    <a:bodyPr/>
                    <a:lstStyle/>
                    <a:p>
                      <a:pPr rtl="0" fontAlgn="ctr">
                        <a:buNone/>
                      </a:pPr>
                      <a:r>
                        <a:rPr lang="vi-VN" sz="1800" b="1" i="0" u="none" strike="noStrike" dirty="0">
                          <a:solidFill>
                            <a:schemeClr val="bg1"/>
                          </a:solidFill>
                          <a:effectLst/>
                          <a:latin typeface="+mn-lt"/>
                        </a:rPr>
                        <a:t>Nền tảng lý thuyết</a:t>
                      </a:r>
                      <a:endParaRPr lang="vi-VN" sz="1800" dirty="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0" i="0" u="none" strike="noStrike" dirty="0">
                          <a:solidFill>
                            <a:schemeClr val="bg1"/>
                          </a:solidFill>
                          <a:effectLst/>
                          <a:latin typeface="+mn-lt"/>
                        </a:rPr>
                        <a:t>Thuật toán và độ khó toán học </a:t>
                      </a:r>
                    </a:p>
                    <a:p>
                      <a:pPr rtl="0" fontAlgn="ctr">
                        <a:buNone/>
                      </a:pPr>
                      <a:r>
                        <a:rPr lang="vi-VN" sz="1800" b="0" i="0" u="none" strike="noStrike" dirty="0">
                          <a:solidFill>
                            <a:schemeClr val="bg1"/>
                          </a:solidFill>
                          <a:effectLst/>
                          <a:latin typeface="+mn-lt"/>
                        </a:rPr>
                        <a:t>(RSA, AES)</a:t>
                      </a:r>
                      <a:endParaRPr lang="vi-VN" sz="1800" dirty="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0" i="0" u="none" strike="noStrike">
                          <a:solidFill>
                            <a:schemeClr val="bg1"/>
                          </a:solidFill>
                          <a:effectLst/>
                          <a:latin typeface="+mn-lt"/>
                        </a:rPr>
                        <a:t>Các định luật vật lý lượng tử tự nhiên</a:t>
                      </a:r>
                      <a:endParaRPr lang="vi-VN" sz="180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extLst>
                  <a:ext uri="{0D108BD9-81ED-4DB2-BD59-A6C34878D82A}">
                    <a16:rowId xmlns:a16="http://schemas.microsoft.com/office/drawing/2014/main" val="3046298421"/>
                  </a:ext>
                </a:extLst>
              </a:tr>
              <a:tr h="881962">
                <a:tc>
                  <a:txBody>
                    <a:bodyPr/>
                    <a:lstStyle/>
                    <a:p>
                      <a:pPr rtl="0" fontAlgn="ctr">
                        <a:buNone/>
                      </a:pPr>
                      <a:r>
                        <a:rPr lang="vi-VN" sz="1800" b="1" i="0" u="none" strike="noStrike" dirty="0">
                          <a:solidFill>
                            <a:schemeClr val="bg1"/>
                          </a:solidFill>
                          <a:effectLst/>
                          <a:latin typeface="+mn-lt"/>
                        </a:rPr>
                        <a:t>Đơn vị thông tin</a:t>
                      </a:r>
                      <a:endParaRPr lang="vi-VN" sz="1800" dirty="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0" i="0" u="none" strike="noStrike" dirty="0" err="1">
                          <a:solidFill>
                            <a:schemeClr val="bg1"/>
                          </a:solidFill>
                          <a:effectLst/>
                          <a:latin typeface="+mn-lt"/>
                        </a:rPr>
                        <a:t>Bit</a:t>
                      </a:r>
                      <a:r>
                        <a:rPr lang="vi-VN" sz="1800" b="0" i="0" u="none" strike="noStrike" dirty="0">
                          <a:solidFill>
                            <a:schemeClr val="bg1"/>
                          </a:solidFill>
                          <a:effectLst/>
                          <a:latin typeface="+mn-lt"/>
                        </a:rPr>
                        <a:t> cổ điển (nhị phân 0 hoặc 1)</a:t>
                      </a:r>
                      <a:endParaRPr lang="vi-VN" sz="1800" dirty="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0" i="0" u="none" strike="noStrike" dirty="0" err="1">
                          <a:solidFill>
                            <a:schemeClr val="bg1"/>
                          </a:solidFill>
                          <a:effectLst/>
                          <a:latin typeface="+mn-lt"/>
                        </a:rPr>
                        <a:t>Qubit</a:t>
                      </a:r>
                      <a:r>
                        <a:rPr lang="vi-VN" sz="1800" b="0" i="0" u="none" strike="noStrike" dirty="0">
                          <a:solidFill>
                            <a:schemeClr val="bg1"/>
                          </a:solidFill>
                          <a:effectLst/>
                          <a:latin typeface="+mn-lt"/>
                        </a:rPr>
                        <a:t> lượng tử (chồng chập </a:t>
                      </a:r>
                    </a:p>
                    <a:p>
                      <a:pPr rtl="0" fontAlgn="ctr">
                        <a:buNone/>
                      </a:pPr>
                      <a:r>
                        <a:rPr lang="vi-VN" sz="1800" b="0" i="0" u="none" strike="noStrike" dirty="0">
                          <a:solidFill>
                            <a:schemeClr val="bg1"/>
                          </a:solidFill>
                          <a:effectLst/>
                          <a:latin typeface="+mn-lt"/>
                        </a:rPr>
                        <a:t>đồng thời)</a:t>
                      </a:r>
                      <a:endParaRPr lang="vi-VN" sz="1800" dirty="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extLst>
                  <a:ext uri="{0D108BD9-81ED-4DB2-BD59-A6C34878D82A}">
                    <a16:rowId xmlns:a16="http://schemas.microsoft.com/office/drawing/2014/main" val="3307909307"/>
                  </a:ext>
                </a:extLst>
              </a:tr>
              <a:tr h="881962">
                <a:tc>
                  <a:txBody>
                    <a:bodyPr/>
                    <a:lstStyle/>
                    <a:p>
                      <a:pPr rtl="0" fontAlgn="ctr">
                        <a:buNone/>
                      </a:pPr>
                      <a:r>
                        <a:rPr lang="vi-VN" sz="1800" b="1" i="0" u="none" strike="noStrike">
                          <a:solidFill>
                            <a:schemeClr val="bg1"/>
                          </a:solidFill>
                          <a:effectLst/>
                          <a:latin typeface="+mn-lt"/>
                        </a:rPr>
                        <a:t>Phát hiện nghe lén</a:t>
                      </a:r>
                      <a:endParaRPr lang="vi-VN" sz="180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0" i="0" u="none" strike="noStrike" dirty="0">
                          <a:solidFill>
                            <a:schemeClr val="bg1"/>
                          </a:solidFill>
                          <a:effectLst/>
                          <a:latin typeface="+mn-lt"/>
                        </a:rPr>
                        <a:t>Khó phát hiện trực tiếp khi bị </a:t>
                      </a:r>
                    </a:p>
                    <a:p>
                      <a:pPr rtl="0" fontAlgn="ctr">
                        <a:buNone/>
                      </a:pPr>
                      <a:r>
                        <a:rPr lang="vi-VN" sz="1800" b="0" i="0" u="none" strike="noStrike" dirty="0">
                          <a:solidFill>
                            <a:schemeClr val="bg1"/>
                          </a:solidFill>
                          <a:effectLst/>
                          <a:latin typeface="+mn-lt"/>
                        </a:rPr>
                        <a:t>sao chép khóa</a:t>
                      </a:r>
                      <a:endParaRPr lang="vi-VN" sz="1800" dirty="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0" i="0" u="none" strike="noStrike">
                          <a:solidFill>
                            <a:schemeClr val="bg1"/>
                          </a:solidFill>
                          <a:effectLst/>
                          <a:latin typeface="+mn-lt"/>
                        </a:rPr>
                        <a:t>Phát hiện lập tức nhờ thay đổi trạng thái</a:t>
                      </a:r>
                      <a:endParaRPr lang="vi-VN" sz="180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extLst>
                  <a:ext uri="{0D108BD9-81ED-4DB2-BD59-A6C34878D82A}">
                    <a16:rowId xmlns:a16="http://schemas.microsoft.com/office/drawing/2014/main" val="3433831614"/>
                  </a:ext>
                </a:extLst>
              </a:tr>
              <a:tr h="881962">
                <a:tc>
                  <a:txBody>
                    <a:bodyPr/>
                    <a:lstStyle/>
                    <a:p>
                      <a:pPr rtl="0" fontAlgn="ctr">
                        <a:buNone/>
                      </a:pPr>
                      <a:r>
                        <a:rPr lang="vi-VN" sz="1800" b="1" i="0" u="none" strike="noStrike">
                          <a:solidFill>
                            <a:schemeClr val="bg1"/>
                          </a:solidFill>
                          <a:effectLst/>
                          <a:latin typeface="+mn-lt"/>
                        </a:rPr>
                        <a:t>An toàn trước máy tính lượng tử</a:t>
                      </a:r>
                      <a:endParaRPr lang="vi-VN" sz="180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0" i="0" u="none" strike="noStrike" dirty="0">
                          <a:solidFill>
                            <a:schemeClr val="bg1"/>
                          </a:solidFill>
                          <a:effectLst/>
                          <a:latin typeface="+mn-lt"/>
                        </a:rPr>
                        <a:t>Bị đe dọa phá vỡ hoàn toàn</a:t>
                      </a:r>
                      <a:endParaRPr lang="vi-VN" sz="1800" dirty="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tc>
                  <a:txBody>
                    <a:bodyPr/>
                    <a:lstStyle/>
                    <a:p>
                      <a:pPr rtl="0" fontAlgn="ctr">
                        <a:buNone/>
                      </a:pPr>
                      <a:r>
                        <a:rPr lang="vi-VN" sz="1800" b="0" i="0" u="none" strike="noStrike" dirty="0">
                          <a:solidFill>
                            <a:schemeClr val="bg1"/>
                          </a:solidFill>
                          <a:effectLst/>
                          <a:latin typeface="+mn-lt"/>
                        </a:rPr>
                        <a:t>An toàn tuyệt đối và vĩnh cửu</a:t>
                      </a:r>
                      <a:endParaRPr lang="vi-VN" sz="1800" dirty="0">
                        <a:solidFill>
                          <a:schemeClr val="bg1"/>
                        </a:solidFill>
                        <a:effectLst/>
                        <a:latin typeface="+mn-lt"/>
                      </a:endParaRPr>
                    </a:p>
                  </a:txBody>
                  <a:tcPr marL="53340" marR="53340" marT="22860" marB="228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111827"/>
                    </a:solidFill>
                  </a:tcPr>
                </a:tc>
                <a:extLst>
                  <a:ext uri="{0D108BD9-81ED-4DB2-BD59-A6C34878D82A}">
                    <a16:rowId xmlns:a16="http://schemas.microsoft.com/office/drawing/2014/main" val="1378010794"/>
                  </a:ext>
                </a:extLst>
              </a:tr>
            </a:tbl>
          </a:graphicData>
        </a:graphic>
      </p:graphicFrame>
    </p:spTree>
    <p:extLst>
      <p:ext uri="{BB962C8B-B14F-4D97-AF65-F5344CB8AC3E}">
        <p14:creationId xmlns:p14="http://schemas.microsoft.com/office/powerpoint/2010/main" val="2015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76404AC-68E1-5091-2F48-85B1517635B0}"/>
              </a:ext>
            </a:extLst>
          </p:cNvPr>
          <p:cNvSpPr>
            <a:spLocks noGrp="1"/>
          </p:cNvSpPr>
          <p:nvPr>
            <p:ph type="title"/>
          </p:nvPr>
        </p:nvSpPr>
        <p:spPr/>
        <p:txBody>
          <a:bodyPr>
            <a:normAutofit/>
          </a:bodyPr>
          <a:lstStyle/>
          <a:p>
            <a:r>
              <a:rPr lang="vi-VN" sz="3200" b="1" dirty="0">
                <a:latin typeface="+mn-lt"/>
              </a:rPr>
              <a:t>Vai Trò Và Ứng Dụng Thực Tế</a:t>
            </a:r>
            <a:endParaRPr lang="vi-VN" sz="3200" dirty="0">
              <a:latin typeface="+mn-lt"/>
            </a:endParaRPr>
          </a:p>
        </p:txBody>
      </p:sp>
      <p:pic>
        <p:nvPicPr>
          <p:cNvPr id="4" name="Chỗ dành sẵn cho Nội dung 3" descr="image.png">
            <a:extLst>
              <a:ext uri="{FF2B5EF4-FFF2-40B4-BE49-F238E27FC236}">
                <a16:creationId xmlns:a16="http://schemas.microsoft.com/office/drawing/2014/main" id="{4ADCA178-2253-C5F9-9A7D-0DCC109DF594}"/>
              </a:ext>
            </a:extLst>
          </p:cNvPr>
          <p:cNvPicPr>
            <a:picLocks noGrp="1" noChangeAspect="1"/>
          </p:cNvPicPr>
          <p:nvPr>
            <p:ph idx="1"/>
          </p:nvPr>
        </p:nvPicPr>
        <p:blipFill>
          <a:blip r:embed="rId2"/>
          <a:stretch>
            <a:fillRect/>
          </a:stretch>
        </p:blipFill>
        <p:spPr>
          <a:xfrm>
            <a:off x="656696" y="2140215"/>
            <a:ext cx="5238750" cy="3329252"/>
          </a:xfrm>
          <a:prstGeom prst="rect">
            <a:avLst/>
          </a:prstGeom>
        </p:spPr>
      </p:pic>
      <p:pic>
        <p:nvPicPr>
          <p:cNvPr id="5" name="Hình ảnh 4" descr="image.png">
            <a:extLst>
              <a:ext uri="{FF2B5EF4-FFF2-40B4-BE49-F238E27FC236}">
                <a16:creationId xmlns:a16="http://schemas.microsoft.com/office/drawing/2014/main" id="{300F9C4B-8E61-F9C4-1D9E-BF8EA948E6D1}"/>
              </a:ext>
            </a:extLst>
          </p:cNvPr>
          <p:cNvPicPr>
            <a:picLocks noChangeAspect="1"/>
          </p:cNvPicPr>
          <p:nvPr/>
        </p:nvPicPr>
        <p:blipFill>
          <a:blip r:embed="rId2"/>
          <a:stretch>
            <a:fillRect/>
          </a:stretch>
        </p:blipFill>
        <p:spPr>
          <a:xfrm>
            <a:off x="6296554" y="2140215"/>
            <a:ext cx="5238750" cy="3329252"/>
          </a:xfrm>
          <a:prstGeom prst="rect">
            <a:avLst/>
          </a:prstGeom>
        </p:spPr>
      </p:pic>
      <p:sp>
        <p:nvSpPr>
          <p:cNvPr id="7" name="Hộp Văn bản 6">
            <a:extLst>
              <a:ext uri="{FF2B5EF4-FFF2-40B4-BE49-F238E27FC236}">
                <a16:creationId xmlns:a16="http://schemas.microsoft.com/office/drawing/2014/main" id="{0D8ACB9C-E3DE-8D1E-A783-1145E96CEA54}"/>
              </a:ext>
            </a:extLst>
          </p:cNvPr>
          <p:cNvSpPr txBox="1"/>
          <p:nvPr/>
        </p:nvSpPr>
        <p:spPr>
          <a:xfrm>
            <a:off x="3048000" y="3244334"/>
            <a:ext cx="6096000" cy="369332"/>
          </a:xfrm>
          <a:prstGeom prst="rect">
            <a:avLst/>
          </a:prstGeom>
          <a:noFill/>
        </p:spPr>
        <p:txBody>
          <a:bodyPr wrap="square">
            <a:spAutoFit/>
          </a:bodyPr>
          <a:lstStyle/>
          <a:p>
            <a:endParaRPr lang="vi-VN" dirty="0"/>
          </a:p>
        </p:txBody>
      </p:sp>
      <p:sp>
        <p:nvSpPr>
          <p:cNvPr id="9" name="Hộp Văn bản 8">
            <a:extLst>
              <a:ext uri="{FF2B5EF4-FFF2-40B4-BE49-F238E27FC236}">
                <a16:creationId xmlns:a16="http://schemas.microsoft.com/office/drawing/2014/main" id="{841B7358-336C-3B32-B7A8-1F27C32DFBCA}"/>
              </a:ext>
            </a:extLst>
          </p:cNvPr>
          <p:cNvSpPr txBox="1"/>
          <p:nvPr/>
        </p:nvSpPr>
        <p:spPr>
          <a:xfrm>
            <a:off x="6592358" y="2415464"/>
            <a:ext cx="5238750" cy="400110"/>
          </a:xfrm>
          <a:prstGeom prst="rect">
            <a:avLst/>
          </a:prstGeom>
          <a:noFill/>
        </p:spPr>
        <p:txBody>
          <a:bodyPr wrap="square">
            <a:spAutoFit/>
          </a:bodyPr>
          <a:lstStyle/>
          <a:p>
            <a:pPr algn="ctr"/>
            <a:r>
              <a:rPr lang="vi-VN" sz="2000" b="1" dirty="0">
                <a:solidFill>
                  <a:srgbClr val="00B0F0"/>
                </a:solidFill>
              </a:rPr>
              <a:t>Hạ Tầng </a:t>
            </a:r>
            <a:r>
              <a:rPr lang="vi-VN" sz="2000" b="1" dirty="0" err="1">
                <a:solidFill>
                  <a:srgbClr val="00B0F0"/>
                </a:solidFill>
              </a:rPr>
              <a:t>Internet</a:t>
            </a:r>
            <a:r>
              <a:rPr lang="vi-VN" sz="2000" b="1" dirty="0">
                <a:solidFill>
                  <a:srgbClr val="00B0F0"/>
                </a:solidFill>
              </a:rPr>
              <a:t> Lượng Tử</a:t>
            </a:r>
            <a:endParaRPr lang="vi-VN" sz="2000" dirty="0">
              <a:solidFill>
                <a:srgbClr val="00B0F0"/>
              </a:solidFill>
            </a:endParaRPr>
          </a:p>
        </p:txBody>
      </p:sp>
      <p:sp>
        <p:nvSpPr>
          <p:cNvPr id="11" name="Hộp Văn bản 10">
            <a:extLst>
              <a:ext uri="{FF2B5EF4-FFF2-40B4-BE49-F238E27FC236}">
                <a16:creationId xmlns:a16="http://schemas.microsoft.com/office/drawing/2014/main" id="{883D9B1C-B516-C1A1-5679-03709177D2FB}"/>
              </a:ext>
            </a:extLst>
          </p:cNvPr>
          <p:cNvSpPr txBox="1"/>
          <p:nvPr/>
        </p:nvSpPr>
        <p:spPr>
          <a:xfrm>
            <a:off x="360892" y="2400075"/>
            <a:ext cx="5238750" cy="400110"/>
          </a:xfrm>
          <a:prstGeom prst="rect">
            <a:avLst/>
          </a:prstGeom>
          <a:noFill/>
        </p:spPr>
        <p:txBody>
          <a:bodyPr wrap="square">
            <a:spAutoFit/>
          </a:bodyPr>
          <a:lstStyle/>
          <a:p>
            <a:pPr algn="ctr"/>
            <a:r>
              <a:rPr lang="vi-VN" sz="2000" b="1" i="0" u="none" strike="noStrike" dirty="0">
                <a:solidFill>
                  <a:srgbClr val="00B0F0"/>
                </a:solidFill>
                <a:effectLst/>
              </a:rPr>
              <a:t>Tài Chính &amp; Quốc Phòng</a:t>
            </a:r>
            <a:endParaRPr lang="vi-VN" sz="2000" dirty="0">
              <a:solidFill>
                <a:srgbClr val="00B0F0"/>
              </a:solidFill>
            </a:endParaRPr>
          </a:p>
        </p:txBody>
      </p:sp>
      <p:sp>
        <p:nvSpPr>
          <p:cNvPr id="13" name="Hộp Văn bản 12">
            <a:extLst>
              <a:ext uri="{FF2B5EF4-FFF2-40B4-BE49-F238E27FC236}">
                <a16:creationId xmlns:a16="http://schemas.microsoft.com/office/drawing/2014/main" id="{CBB195A5-6EE9-05B5-6D12-E9AF588AE52C}"/>
              </a:ext>
            </a:extLst>
          </p:cNvPr>
          <p:cNvSpPr txBox="1"/>
          <p:nvPr/>
        </p:nvSpPr>
        <p:spPr>
          <a:xfrm>
            <a:off x="762000" y="3303762"/>
            <a:ext cx="4436534" cy="1477328"/>
          </a:xfrm>
          <a:prstGeom prst="rect">
            <a:avLst/>
          </a:prstGeom>
          <a:noFill/>
        </p:spPr>
        <p:txBody>
          <a:bodyPr wrap="square">
            <a:spAutoFit/>
          </a:bodyPr>
          <a:lstStyle/>
          <a:p>
            <a:r>
              <a:rPr lang="vi-VN" sz="1800" b="0" i="0" u="none" strike="noStrike" dirty="0">
                <a:solidFill>
                  <a:schemeClr val="bg1"/>
                </a:solidFill>
                <a:effectLst/>
              </a:rPr>
              <a:t>Mật mã lượng tử đóng vai trò thiết yếu trong việc bảo mật các giao dịch tài chính liên ngân hàng quốc tế, bảo vệ thông tin tình báo bí mật quốc gia và các dữ liệu quốc phòng chiến lược</a:t>
            </a:r>
            <a:endParaRPr lang="vi-VN" dirty="0">
              <a:solidFill>
                <a:schemeClr val="bg1"/>
              </a:solidFill>
            </a:endParaRPr>
          </a:p>
        </p:txBody>
      </p:sp>
      <p:sp>
        <p:nvSpPr>
          <p:cNvPr id="15" name="Hộp Văn bản 14">
            <a:extLst>
              <a:ext uri="{FF2B5EF4-FFF2-40B4-BE49-F238E27FC236}">
                <a16:creationId xmlns:a16="http://schemas.microsoft.com/office/drawing/2014/main" id="{7F2030DE-0E81-1161-AAAB-459264473EBD}"/>
              </a:ext>
            </a:extLst>
          </p:cNvPr>
          <p:cNvSpPr txBox="1"/>
          <p:nvPr/>
        </p:nvSpPr>
        <p:spPr>
          <a:xfrm>
            <a:off x="7069667" y="3244334"/>
            <a:ext cx="4284133" cy="1477328"/>
          </a:xfrm>
          <a:prstGeom prst="rect">
            <a:avLst/>
          </a:prstGeom>
          <a:noFill/>
        </p:spPr>
        <p:txBody>
          <a:bodyPr wrap="square">
            <a:spAutoFit/>
          </a:bodyPr>
          <a:lstStyle/>
          <a:p>
            <a:r>
              <a:rPr lang="vi-VN" sz="1800" b="0" i="0" u="none" strike="noStrike" dirty="0">
                <a:solidFill>
                  <a:schemeClr val="bg1"/>
                </a:solidFill>
                <a:effectLst/>
              </a:rPr>
              <a:t>Phân phối khóa lượng </a:t>
            </a:r>
            <a:r>
              <a:rPr lang="vi-VN" sz="1800" b="1" i="0" u="none" strike="noStrike" dirty="0">
                <a:solidFill>
                  <a:schemeClr val="bg1"/>
                </a:solidFill>
                <a:effectLst/>
              </a:rPr>
              <a:t>tử (QKD) </a:t>
            </a:r>
            <a:r>
              <a:rPr lang="vi-VN" sz="1800" b="0" i="0" u="none" strike="noStrike" dirty="0">
                <a:solidFill>
                  <a:schemeClr val="bg1"/>
                </a:solidFill>
                <a:effectLst/>
              </a:rPr>
              <a:t>là bước đi tiên phong đặt nền móng vững chắc cho việc thiết lập mạng </a:t>
            </a:r>
            <a:r>
              <a:rPr lang="vi-VN" sz="1800" b="0" i="0" u="none" strike="noStrike" dirty="0" err="1">
                <a:solidFill>
                  <a:schemeClr val="bg1"/>
                </a:solidFill>
                <a:effectLst/>
              </a:rPr>
              <a:t>Internet</a:t>
            </a:r>
            <a:r>
              <a:rPr lang="vi-VN" sz="1800" b="0" i="0" u="none" strike="noStrike" dirty="0">
                <a:solidFill>
                  <a:schemeClr val="bg1"/>
                </a:solidFill>
                <a:effectLst/>
              </a:rPr>
              <a:t> lượng tử an toàn tuyệt đối trong tương lai, kết nối mạng lưới toàn cầu.</a:t>
            </a:r>
            <a:endParaRPr lang="vi-VN" dirty="0">
              <a:solidFill>
                <a:schemeClr val="bg1"/>
              </a:solidFill>
            </a:endParaRPr>
          </a:p>
        </p:txBody>
      </p:sp>
    </p:spTree>
    <p:extLst>
      <p:ext uri="{BB962C8B-B14F-4D97-AF65-F5344CB8AC3E}">
        <p14:creationId xmlns:p14="http://schemas.microsoft.com/office/powerpoint/2010/main" val="3251941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4FF0939-0096-2B8B-2DF2-6E7A502AA95D}"/>
              </a:ext>
            </a:extLst>
          </p:cNvPr>
          <p:cNvSpPr>
            <a:spLocks noGrp="1"/>
          </p:cNvSpPr>
          <p:nvPr>
            <p:ph type="title"/>
          </p:nvPr>
        </p:nvSpPr>
        <p:spPr/>
        <p:txBody>
          <a:bodyPr/>
          <a:lstStyle/>
          <a:p>
            <a:endParaRPr lang="vi-VN"/>
          </a:p>
        </p:txBody>
      </p:sp>
      <p:pic>
        <p:nvPicPr>
          <p:cNvPr id="4" name="Chỗ dành sẵn cho Nội dung 3" descr="image.png">
            <a:extLst>
              <a:ext uri="{FF2B5EF4-FFF2-40B4-BE49-F238E27FC236}">
                <a16:creationId xmlns:a16="http://schemas.microsoft.com/office/drawing/2014/main" id="{86A2C96D-607C-6B22-85B2-59A856A2A03E}"/>
              </a:ext>
            </a:extLst>
          </p:cNvPr>
          <p:cNvPicPr>
            <a:picLocks noGrp="1" noChangeAspect="1"/>
          </p:cNvPicPr>
          <p:nvPr>
            <p:ph idx="1"/>
          </p:nvPr>
        </p:nvPicPr>
        <p:blipFill>
          <a:blip r:embed="rId2"/>
          <a:stretch>
            <a:fillRect/>
          </a:stretch>
        </p:blipFill>
        <p:spPr>
          <a:xfrm>
            <a:off x="838200" y="365125"/>
            <a:ext cx="10515600" cy="5811838"/>
          </a:xfrm>
          <a:prstGeom prst="rect">
            <a:avLst/>
          </a:prstGeom>
        </p:spPr>
      </p:pic>
      <p:sp>
        <p:nvSpPr>
          <p:cNvPr id="6" name="Hộp Văn bản 5">
            <a:extLst>
              <a:ext uri="{FF2B5EF4-FFF2-40B4-BE49-F238E27FC236}">
                <a16:creationId xmlns:a16="http://schemas.microsoft.com/office/drawing/2014/main" id="{8268FEF3-1BF9-0FF2-EFB7-F85D3013A141}"/>
              </a:ext>
            </a:extLst>
          </p:cNvPr>
          <p:cNvSpPr txBox="1"/>
          <p:nvPr/>
        </p:nvSpPr>
        <p:spPr>
          <a:xfrm>
            <a:off x="838200" y="1302336"/>
            <a:ext cx="10515600" cy="1754326"/>
          </a:xfrm>
          <a:prstGeom prst="rect">
            <a:avLst/>
          </a:prstGeom>
          <a:noFill/>
        </p:spPr>
        <p:txBody>
          <a:bodyPr wrap="square">
            <a:spAutoFit/>
          </a:bodyPr>
          <a:lstStyle/>
          <a:p>
            <a:pPr algn="ctr"/>
            <a:r>
              <a:rPr lang="vi-VN" sz="3600" b="1" i="0" u="none" strike="noStrike" dirty="0">
                <a:solidFill>
                  <a:srgbClr val="FFFFFF"/>
                </a:solidFill>
                <a:effectLst/>
              </a:rPr>
              <a:t>CHƯƠNG 2</a:t>
            </a:r>
          </a:p>
          <a:p>
            <a:pPr algn="ctr"/>
            <a:br>
              <a:rPr lang="vi-VN" sz="3600" b="0" i="0" u="none" strike="noStrike" dirty="0">
                <a:solidFill>
                  <a:srgbClr val="000000"/>
                </a:solidFill>
                <a:effectLst/>
              </a:rPr>
            </a:br>
            <a:r>
              <a:rPr lang="vi-VN" sz="3600" b="1" i="0" u="none" strike="noStrike" dirty="0">
                <a:solidFill>
                  <a:srgbClr val="FFFFFF"/>
                </a:solidFill>
                <a:effectLst/>
              </a:rPr>
              <a:t>CƠ CHẾ HOẠT ĐỘNG &amp; GIAO THỨC BB84</a:t>
            </a:r>
            <a:endParaRPr lang="vi-VN" sz="3600" dirty="0"/>
          </a:p>
        </p:txBody>
      </p:sp>
      <p:sp>
        <p:nvSpPr>
          <p:cNvPr id="8" name="Hộp Văn bản 7">
            <a:extLst>
              <a:ext uri="{FF2B5EF4-FFF2-40B4-BE49-F238E27FC236}">
                <a16:creationId xmlns:a16="http://schemas.microsoft.com/office/drawing/2014/main" id="{F7A35E53-EFEC-1C22-6ECA-B7329FB971A7}"/>
              </a:ext>
            </a:extLst>
          </p:cNvPr>
          <p:cNvSpPr txBox="1"/>
          <p:nvPr/>
        </p:nvSpPr>
        <p:spPr>
          <a:xfrm>
            <a:off x="1312333" y="3401229"/>
            <a:ext cx="9567333" cy="400110"/>
          </a:xfrm>
          <a:prstGeom prst="rect">
            <a:avLst/>
          </a:prstGeom>
          <a:noFill/>
        </p:spPr>
        <p:txBody>
          <a:bodyPr wrap="square">
            <a:spAutoFit/>
          </a:bodyPr>
          <a:lstStyle/>
          <a:p>
            <a:pPr algn="ctr"/>
            <a:r>
              <a:rPr lang="vi-VN" sz="2000" b="0" i="0" u="none" strike="noStrike" dirty="0">
                <a:solidFill>
                  <a:schemeClr val="bg1"/>
                </a:solidFill>
                <a:effectLst/>
              </a:rPr>
              <a:t>( Tìm hiểu các nguyên lý vật lý cốt lõi và giao thức phân phối khóa lượng tử (QKD)</a:t>
            </a:r>
            <a:endParaRPr lang="vi-VN" sz="2000" dirty="0">
              <a:solidFill>
                <a:schemeClr val="bg1"/>
              </a:solidFill>
            </a:endParaRPr>
          </a:p>
        </p:txBody>
      </p:sp>
    </p:spTree>
    <p:extLst>
      <p:ext uri="{BB962C8B-B14F-4D97-AF65-F5344CB8AC3E}">
        <p14:creationId xmlns:p14="http://schemas.microsoft.com/office/powerpoint/2010/main" val="2036099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3600EA5-BBA1-1F84-F20C-E270B9DCEB8D}"/>
              </a:ext>
            </a:extLst>
          </p:cNvPr>
          <p:cNvSpPr>
            <a:spLocks noGrp="1"/>
          </p:cNvSpPr>
          <p:nvPr>
            <p:ph type="title"/>
          </p:nvPr>
        </p:nvSpPr>
        <p:spPr/>
        <p:txBody>
          <a:bodyPr>
            <a:normAutofit/>
          </a:bodyPr>
          <a:lstStyle/>
          <a:p>
            <a:r>
              <a:rPr lang="vi-VN" sz="3200" b="1" dirty="0">
                <a:latin typeface="+mn-lt"/>
              </a:rPr>
              <a:t>Ba Nguyên Lý Lượng Tử Cốt Lõi</a:t>
            </a:r>
            <a:endParaRPr lang="vi-VN" sz="3200" dirty="0">
              <a:latin typeface="+mn-lt"/>
            </a:endParaRPr>
          </a:p>
        </p:txBody>
      </p:sp>
      <p:pic>
        <p:nvPicPr>
          <p:cNvPr id="6" name="Chỗ dành sẵn cho Nội dung 5" descr="image.png">
            <a:extLst>
              <a:ext uri="{FF2B5EF4-FFF2-40B4-BE49-F238E27FC236}">
                <a16:creationId xmlns:a16="http://schemas.microsoft.com/office/drawing/2014/main" id="{D3001FFA-924B-28BC-865F-02783BB16B8B}"/>
              </a:ext>
            </a:extLst>
          </p:cNvPr>
          <p:cNvPicPr>
            <a:picLocks noGrp="1" noChangeAspect="1"/>
          </p:cNvPicPr>
          <p:nvPr>
            <p:ph idx="1"/>
          </p:nvPr>
        </p:nvPicPr>
        <p:blipFill>
          <a:blip r:embed="rId2"/>
          <a:stretch>
            <a:fillRect/>
          </a:stretch>
        </p:blipFill>
        <p:spPr>
          <a:xfrm>
            <a:off x="4381500" y="2339181"/>
            <a:ext cx="3429000" cy="3324225"/>
          </a:xfrm>
          <a:prstGeom prst="rect">
            <a:avLst/>
          </a:prstGeom>
        </p:spPr>
      </p:pic>
      <p:pic>
        <p:nvPicPr>
          <p:cNvPr id="7" name="Hình ảnh 6" descr="image.png">
            <a:extLst>
              <a:ext uri="{FF2B5EF4-FFF2-40B4-BE49-F238E27FC236}">
                <a16:creationId xmlns:a16="http://schemas.microsoft.com/office/drawing/2014/main" id="{81DB17C6-2CF1-D85B-ADDF-C59D114FFDE3}"/>
              </a:ext>
            </a:extLst>
          </p:cNvPr>
          <p:cNvPicPr>
            <a:picLocks noChangeAspect="1"/>
          </p:cNvPicPr>
          <p:nvPr/>
        </p:nvPicPr>
        <p:blipFill>
          <a:blip r:embed="rId2"/>
          <a:stretch>
            <a:fillRect/>
          </a:stretch>
        </p:blipFill>
        <p:spPr>
          <a:xfrm>
            <a:off x="8475980" y="2339181"/>
            <a:ext cx="3429000" cy="3324225"/>
          </a:xfrm>
          <a:prstGeom prst="rect">
            <a:avLst/>
          </a:prstGeom>
        </p:spPr>
      </p:pic>
      <p:pic>
        <p:nvPicPr>
          <p:cNvPr id="8" name="Hình ảnh 7" descr="image.png">
            <a:extLst>
              <a:ext uri="{FF2B5EF4-FFF2-40B4-BE49-F238E27FC236}">
                <a16:creationId xmlns:a16="http://schemas.microsoft.com/office/drawing/2014/main" id="{452E746D-3B1C-CB4F-59A4-5052B5CD0116}"/>
              </a:ext>
            </a:extLst>
          </p:cNvPr>
          <p:cNvPicPr>
            <a:picLocks noChangeAspect="1"/>
          </p:cNvPicPr>
          <p:nvPr/>
        </p:nvPicPr>
        <p:blipFill>
          <a:blip r:embed="rId2"/>
          <a:stretch>
            <a:fillRect/>
          </a:stretch>
        </p:blipFill>
        <p:spPr>
          <a:xfrm>
            <a:off x="287020" y="2339181"/>
            <a:ext cx="3429000" cy="3324225"/>
          </a:xfrm>
          <a:prstGeom prst="rect">
            <a:avLst/>
          </a:prstGeom>
        </p:spPr>
      </p:pic>
      <p:pic>
        <p:nvPicPr>
          <p:cNvPr id="9" name="Hình ảnh 8" descr="image.png">
            <a:extLst>
              <a:ext uri="{FF2B5EF4-FFF2-40B4-BE49-F238E27FC236}">
                <a16:creationId xmlns:a16="http://schemas.microsoft.com/office/drawing/2014/main" id="{45002555-A2E1-7DEC-A999-EA581910E1F4}"/>
              </a:ext>
            </a:extLst>
          </p:cNvPr>
          <p:cNvPicPr>
            <a:picLocks noChangeAspect="1"/>
          </p:cNvPicPr>
          <p:nvPr/>
        </p:nvPicPr>
        <p:blipFill>
          <a:blip r:embed="rId3"/>
          <a:stretch>
            <a:fillRect/>
          </a:stretch>
        </p:blipFill>
        <p:spPr>
          <a:xfrm>
            <a:off x="5729287" y="2554287"/>
            <a:ext cx="733425" cy="733425"/>
          </a:xfrm>
          <a:prstGeom prst="rect">
            <a:avLst/>
          </a:prstGeom>
        </p:spPr>
      </p:pic>
      <p:pic>
        <p:nvPicPr>
          <p:cNvPr id="10" name="Hình ảnh 9" descr="image.png">
            <a:extLst>
              <a:ext uri="{FF2B5EF4-FFF2-40B4-BE49-F238E27FC236}">
                <a16:creationId xmlns:a16="http://schemas.microsoft.com/office/drawing/2014/main" id="{62A39AA9-3567-AE5F-7E4D-E67FF3BE04B0}"/>
              </a:ext>
            </a:extLst>
          </p:cNvPr>
          <p:cNvPicPr>
            <a:picLocks noChangeAspect="1"/>
          </p:cNvPicPr>
          <p:nvPr/>
        </p:nvPicPr>
        <p:blipFill>
          <a:blip r:embed="rId3"/>
          <a:stretch>
            <a:fillRect/>
          </a:stretch>
        </p:blipFill>
        <p:spPr>
          <a:xfrm>
            <a:off x="1705927" y="2554287"/>
            <a:ext cx="733425" cy="733425"/>
          </a:xfrm>
          <a:prstGeom prst="rect">
            <a:avLst/>
          </a:prstGeom>
        </p:spPr>
      </p:pic>
      <p:pic>
        <p:nvPicPr>
          <p:cNvPr id="11" name="Hình ảnh 10" descr="image.png">
            <a:extLst>
              <a:ext uri="{FF2B5EF4-FFF2-40B4-BE49-F238E27FC236}">
                <a16:creationId xmlns:a16="http://schemas.microsoft.com/office/drawing/2014/main" id="{7F1C5A4F-BC47-97C1-BEDA-F1AFBFA75395}"/>
              </a:ext>
            </a:extLst>
          </p:cNvPr>
          <p:cNvPicPr>
            <a:picLocks noChangeAspect="1"/>
          </p:cNvPicPr>
          <p:nvPr/>
        </p:nvPicPr>
        <p:blipFill>
          <a:blip r:embed="rId3"/>
          <a:stretch>
            <a:fillRect/>
          </a:stretch>
        </p:blipFill>
        <p:spPr>
          <a:xfrm>
            <a:off x="9823767" y="2554286"/>
            <a:ext cx="733425" cy="733425"/>
          </a:xfrm>
          <a:prstGeom prst="rect">
            <a:avLst/>
          </a:prstGeom>
        </p:spPr>
      </p:pic>
      <p:pic>
        <p:nvPicPr>
          <p:cNvPr id="12" name="Hình ảnh 11" descr="image.png">
            <a:extLst>
              <a:ext uri="{FF2B5EF4-FFF2-40B4-BE49-F238E27FC236}">
                <a16:creationId xmlns:a16="http://schemas.microsoft.com/office/drawing/2014/main" id="{C3286A9F-5A8E-705E-22E1-759A2ED7BA95}"/>
              </a:ext>
            </a:extLst>
          </p:cNvPr>
          <p:cNvPicPr>
            <a:picLocks noChangeAspect="1"/>
          </p:cNvPicPr>
          <p:nvPr/>
        </p:nvPicPr>
        <p:blipFill>
          <a:blip r:embed="rId4"/>
          <a:stretch>
            <a:fillRect/>
          </a:stretch>
        </p:blipFill>
        <p:spPr>
          <a:xfrm>
            <a:off x="1886901" y="2735260"/>
            <a:ext cx="371475" cy="371475"/>
          </a:xfrm>
          <a:prstGeom prst="rect">
            <a:avLst/>
          </a:prstGeom>
        </p:spPr>
      </p:pic>
      <p:pic>
        <p:nvPicPr>
          <p:cNvPr id="13" name="Hình ảnh 12" descr="image.png">
            <a:extLst>
              <a:ext uri="{FF2B5EF4-FFF2-40B4-BE49-F238E27FC236}">
                <a16:creationId xmlns:a16="http://schemas.microsoft.com/office/drawing/2014/main" id="{2EC13A1A-D779-C9F8-626B-D6ECE611973F}"/>
              </a:ext>
            </a:extLst>
          </p:cNvPr>
          <p:cNvPicPr>
            <a:picLocks noChangeAspect="1"/>
          </p:cNvPicPr>
          <p:nvPr/>
        </p:nvPicPr>
        <p:blipFill>
          <a:blip r:embed="rId5"/>
          <a:stretch>
            <a:fillRect/>
          </a:stretch>
        </p:blipFill>
        <p:spPr>
          <a:xfrm>
            <a:off x="5934074" y="2735259"/>
            <a:ext cx="323850" cy="371475"/>
          </a:xfrm>
          <a:prstGeom prst="rect">
            <a:avLst/>
          </a:prstGeom>
        </p:spPr>
      </p:pic>
      <p:pic>
        <p:nvPicPr>
          <p:cNvPr id="14" name="Hình ảnh 13" descr="image.png">
            <a:extLst>
              <a:ext uri="{FF2B5EF4-FFF2-40B4-BE49-F238E27FC236}">
                <a16:creationId xmlns:a16="http://schemas.microsoft.com/office/drawing/2014/main" id="{4D153D59-21BC-1BB1-C026-23F334758E35}"/>
              </a:ext>
            </a:extLst>
          </p:cNvPr>
          <p:cNvPicPr>
            <a:picLocks noChangeAspect="1"/>
          </p:cNvPicPr>
          <p:nvPr/>
        </p:nvPicPr>
        <p:blipFill>
          <a:blip r:embed="rId6"/>
          <a:stretch>
            <a:fillRect/>
          </a:stretch>
        </p:blipFill>
        <p:spPr>
          <a:xfrm>
            <a:off x="9957116" y="2735259"/>
            <a:ext cx="466725" cy="371475"/>
          </a:xfrm>
          <a:prstGeom prst="rect">
            <a:avLst/>
          </a:prstGeom>
        </p:spPr>
      </p:pic>
      <p:sp>
        <p:nvSpPr>
          <p:cNvPr id="16" name="Hộp Văn bản 15">
            <a:extLst>
              <a:ext uri="{FF2B5EF4-FFF2-40B4-BE49-F238E27FC236}">
                <a16:creationId xmlns:a16="http://schemas.microsoft.com/office/drawing/2014/main" id="{8DE0E94C-22BC-85AE-2B00-7085A160E8BA}"/>
              </a:ext>
            </a:extLst>
          </p:cNvPr>
          <p:cNvSpPr txBox="1"/>
          <p:nvPr/>
        </p:nvSpPr>
        <p:spPr>
          <a:xfrm>
            <a:off x="287020" y="3380844"/>
            <a:ext cx="3429000" cy="400110"/>
          </a:xfrm>
          <a:prstGeom prst="rect">
            <a:avLst/>
          </a:prstGeom>
          <a:noFill/>
        </p:spPr>
        <p:txBody>
          <a:bodyPr wrap="square">
            <a:spAutoFit/>
          </a:bodyPr>
          <a:lstStyle/>
          <a:p>
            <a:pPr algn="ctr"/>
            <a:r>
              <a:rPr lang="vi-VN" sz="2000" b="1" i="0" u="none" strike="noStrike" dirty="0">
                <a:solidFill>
                  <a:srgbClr val="00F2FE"/>
                </a:solidFill>
                <a:effectLst/>
              </a:rPr>
              <a:t>Chồng Chập</a:t>
            </a:r>
            <a:endParaRPr lang="vi-VN" sz="2000" dirty="0"/>
          </a:p>
        </p:txBody>
      </p:sp>
      <p:sp>
        <p:nvSpPr>
          <p:cNvPr id="18" name="Hộp Văn bản 17">
            <a:extLst>
              <a:ext uri="{FF2B5EF4-FFF2-40B4-BE49-F238E27FC236}">
                <a16:creationId xmlns:a16="http://schemas.microsoft.com/office/drawing/2014/main" id="{F7D45D94-3855-0058-4DBA-474CB8D8D432}"/>
              </a:ext>
            </a:extLst>
          </p:cNvPr>
          <p:cNvSpPr txBox="1"/>
          <p:nvPr/>
        </p:nvSpPr>
        <p:spPr>
          <a:xfrm>
            <a:off x="4381499" y="3380844"/>
            <a:ext cx="3429000" cy="400110"/>
          </a:xfrm>
          <a:prstGeom prst="rect">
            <a:avLst/>
          </a:prstGeom>
          <a:noFill/>
        </p:spPr>
        <p:txBody>
          <a:bodyPr wrap="square">
            <a:spAutoFit/>
          </a:bodyPr>
          <a:lstStyle/>
          <a:p>
            <a:pPr algn="ctr"/>
            <a:r>
              <a:rPr lang="vi-VN" sz="2000" b="1" i="0" u="none" strike="noStrike" dirty="0">
                <a:solidFill>
                  <a:srgbClr val="00F2FE"/>
                </a:solidFill>
                <a:effectLst/>
              </a:rPr>
              <a:t>Không Sao Chép</a:t>
            </a:r>
            <a:endParaRPr lang="vi-VN" sz="2000" dirty="0"/>
          </a:p>
        </p:txBody>
      </p:sp>
      <p:sp>
        <p:nvSpPr>
          <p:cNvPr id="20" name="Hộp Văn bản 19">
            <a:extLst>
              <a:ext uri="{FF2B5EF4-FFF2-40B4-BE49-F238E27FC236}">
                <a16:creationId xmlns:a16="http://schemas.microsoft.com/office/drawing/2014/main" id="{59E1AC19-96A4-C80B-446D-B1F74FC42F30}"/>
              </a:ext>
            </a:extLst>
          </p:cNvPr>
          <p:cNvSpPr txBox="1"/>
          <p:nvPr/>
        </p:nvSpPr>
        <p:spPr>
          <a:xfrm>
            <a:off x="8475977" y="3380844"/>
            <a:ext cx="3429001" cy="400110"/>
          </a:xfrm>
          <a:prstGeom prst="rect">
            <a:avLst/>
          </a:prstGeom>
          <a:noFill/>
        </p:spPr>
        <p:txBody>
          <a:bodyPr wrap="square">
            <a:spAutoFit/>
          </a:bodyPr>
          <a:lstStyle/>
          <a:p>
            <a:pPr algn="ctr"/>
            <a:r>
              <a:rPr lang="vi-VN" sz="2000" b="1" i="0" u="none" strike="noStrike" dirty="0">
                <a:solidFill>
                  <a:srgbClr val="00F2FE"/>
                </a:solidFill>
                <a:effectLst/>
              </a:rPr>
              <a:t>Sự Sụp Đổ </a:t>
            </a:r>
            <a:endParaRPr lang="vi-VN" sz="2000" dirty="0"/>
          </a:p>
        </p:txBody>
      </p:sp>
      <p:sp>
        <p:nvSpPr>
          <p:cNvPr id="22" name="Hộp Văn bản 21">
            <a:extLst>
              <a:ext uri="{FF2B5EF4-FFF2-40B4-BE49-F238E27FC236}">
                <a16:creationId xmlns:a16="http://schemas.microsoft.com/office/drawing/2014/main" id="{56B6FAD4-0A94-FEA7-85F5-2FC7AC9FA3A6}"/>
              </a:ext>
            </a:extLst>
          </p:cNvPr>
          <p:cNvSpPr txBox="1"/>
          <p:nvPr/>
        </p:nvSpPr>
        <p:spPr>
          <a:xfrm>
            <a:off x="430528" y="3874086"/>
            <a:ext cx="3284220" cy="1200329"/>
          </a:xfrm>
          <a:prstGeom prst="rect">
            <a:avLst/>
          </a:prstGeom>
          <a:noFill/>
        </p:spPr>
        <p:txBody>
          <a:bodyPr wrap="square">
            <a:spAutoFit/>
          </a:bodyPr>
          <a:lstStyle/>
          <a:p>
            <a:r>
              <a:rPr lang="vi-VN" sz="1800" b="0" i="0" u="none" strike="noStrike" dirty="0">
                <a:solidFill>
                  <a:schemeClr val="bg1"/>
                </a:solidFill>
                <a:effectLst/>
              </a:rPr>
              <a:t>Một </a:t>
            </a:r>
            <a:r>
              <a:rPr lang="vi-VN" sz="1800" b="0" i="0" u="none" strike="noStrike" dirty="0" err="1">
                <a:solidFill>
                  <a:schemeClr val="bg1"/>
                </a:solidFill>
                <a:effectLst/>
              </a:rPr>
              <a:t>qubit</a:t>
            </a:r>
            <a:r>
              <a:rPr lang="vi-VN" sz="1800" b="0" i="0" u="none" strike="noStrike" dirty="0">
                <a:solidFill>
                  <a:schemeClr val="bg1"/>
                </a:solidFill>
                <a:effectLst/>
              </a:rPr>
              <a:t> có thể tồn tại đồng thời ở cả hai trạng thái 0 và 1 trước khi đo, tạo độ phức tạp dữ liệu truyền.</a:t>
            </a:r>
            <a:endParaRPr lang="vi-VN" dirty="0">
              <a:solidFill>
                <a:schemeClr val="bg1"/>
              </a:solidFill>
            </a:endParaRPr>
          </a:p>
        </p:txBody>
      </p:sp>
      <p:sp>
        <p:nvSpPr>
          <p:cNvPr id="24" name="Hộp Văn bản 23">
            <a:extLst>
              <a:ext uri="{FF2B5EF4-FFF2-40B4-BE49-F238E27FC236}">
                <a16:creationId xmlns:a16="http://schemas.microsoft.com/office/drawing/2014/main" id="{05DF68B8-A046-20B5-C562-4E67FCB3B539}"/>
              </a:ext>
            </a:extLst>
          </p:cNvPr>
          <p:cNvSpPr txBox="1"/>
          <p:nvPr/>
        </p:nvSpPr>
        <p:spPr>
          <a:xfrm>
            <a:off x="4504265" y="3874086"/>
            <a:ext cx="3183467" cy="1477328"/>
          </a:xfrm>
          <a:prstGeom prst="rect">
            <a:avLst/>
          </a:prstGeom>
          <a:noFill/>
        </p:spPr>
        <p:txBody>
          <a:bodyPr wrap="square">
            <a:spAutoFit/>
          </a:bodyPr>
          <a:lstStyle/>
          <a:p>
            <a:r>
              <a:rPr lang="vi-VN" sz="1800" b="0" i="0" u="none" strike="noStrike" dirty="0" err="1">
                <a:solidFill>
                  <a:schemeClr val="bg1"/>
                </a:solidFill>
                <a:effectLst/>
              </a:rPr>
              <a:t>K.hông</a:t>
            </a:r>
            <a:r>
              <a:rPr lang="vi-VN" sz="1800" b="0" i="0" u="none" strike="noStrike" dirty="0">
                <a:solidFill>
                  <a:schemeClr val="bg1"/>
                </a:solidFill>
                <a:effectLst/>
              </a:rPr>
              <a:t> một hệ thống nào có thể tạo bản sao hoàn hảo của một trạng thái lượng tử chưa biết mà không làm biến đổi nó</a:t>
            </a:r>
            <a:endParaRPr lang="vi-VN" dirty="0">
              <a:solidFill>
                <a:schemeClr val="bg1"/>
              </a:solidFill>
            </a:endParaRPr>
          </a:p>
        </p:txBody>
      </p:sp>
      <p:sp>
        <p:nvSpPr>
          <p:cNvPr id="26" name="Hộp Văn bản 25">
            <a:extLst>
              <a:ext uri="{FF2B5EF4-FFF2-40B4-BE49-F238E27FC236}">
                <a16:creationId xmlns:a16="http://schemas.microsoft.com/office/drawing/2014/main" id="{DF516C64-E1DC-5A23-C6C1-26581EDEB4D4}"/>
              </a:ext>
            </a:extLst>
          </p:cNvPr>
          <p:cNvSpPr txBox="1"/>
          <p:nvPr/>
        </p:nvSpPr>
        <p:spPr>
          <a:xfrm>
            <a:off x="8547730" y="3909479"/>
            <a:ext cx="3285494" cy="1200329"/>
          </a:xfrm>
          <a:prstGeom prst="rect">
            <a:avLst/>
          </a:prstGeom>
          <a:noFill/>
        </p:spPr>
        <p:txBody>
          <a:bodyPr wrap="square">
            <a:spAutoFit/>
          </a:bodyPr>
          <a:lstStyle/>
          <a:p>
            <a:r>
              <a:rPr lang="vi-VN" sz="1800" b="0" i="0" u="none" strike="noStrike" dirty="0">
                <a:solidFill>
                  <a:schemeClr val="bg1"/>
                </a:solidFill>
                <a:effectLst/>
              </a:rPr>
              <a:t>Mọi hành vi đo lường từ kẻ nghe lén (</a:t>
            </a:r>
            <a:r>
              <a:rPr lang="vi-VN" sz="1800" b="0" i="0" u="none" strike="noStrike" dirty="0" err="1">
                <a:solidFill>
                  <a:schemeClr val="bg1"/>
                </a:solidFill>
                <a:effectLst/>
              </a:rPr>
              <a:t>Eve</a:t>
            </a:r>
            <a:r>
              <a:rPr lang="vi-VN" sz="1800" b="0" i="0" u="none" strike="noStrike" dirty="0">
                <a:solidFill>
                  <a:schemeClr val="bg1"/>
                </a:solidFill>
                <a:effectLst/>
              </a:rPr>
              <a:t>) đều lập tức phá hủy trạng thái </a:t>
            </a:r>
            <a:r>
              <a:rPr lang="vi-VN" sz="1800" b="0" i="0" u="none" strike="noStrike" dirty="0" err="1">
                <a:solidFill>
                  <a:schemeClr val="bg1"/>
                </a:solidFill>
                <a:effectLst/>
              </a:rPr>
              <a:t>photon</a:t>
            </a:r>
            <a:r>
              <a:rPr lang="vi-VN" sz="1800" b="0" i="0" u="none" strike="noStrike" dirty="0">
                <a:solidFill>
                  <a:schemeClr val="bg1"/>
                </a:solidFill>
                <a:effectLst/>
              </a:rPr>
              <a:t> gốc và làm xuất hiện lỗi hệ thống.</a:t>
            </a:r>
            <a:endParaRPr lang="vi-VN" dirty="0">
              <a:solidFill>
                <a:schemeClr val="bg1"/>
              </a:solidFill>
            </a:endParaRPr>
          </a:p>
        </p:txBody>
      </p:sp>
    </p:spTree>
    <p:extLst>
      <p:ext uri="{BB962C8B-B14F-4D97-AF65-F5344CB8AC3E}">
        <p14:creationId xmlns:p14="http://schemas.microsoft.com/office/powerpoint/2010/main" val="616153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DDE78DE-45FE-4709-7BA4-66766ECF4091}"/>
              </a:ext>
            </a:extLst>
          </p:cNvPr>
          <p:cNvSpPr>
            <a:spLocks noGrp="1"/>
          </p:cNvSpPr>
          <p:nvPr>
            <p:ph type="title"/>
          </p:nvPr>
        </p:nvSpPr>
        <p:spPr/>
        <p:txBody>
          <a:bodyPr>
            <a:normAutofit/>
          </a:bodyPr>
          <a:lstStyle/>
          <a:p>
            <a:r>
              <a:rPr lang="vi-VN" sz="3200" b="1" dirty="0">
                <a:latin typeface="+mn-lt"/>
              </a:rPr>
              <a:t>Phân Phối Khóa QKD</a:t>
            </a:r>
            <a:endParaRPr lang="vi-VN" sz="3200" dirty="0">
              <a:latin typeface="+mn-lt"/>
            </a:endParaRPr>
          </a:p>
        </p:txBody>
      </p:sp>
      <p:sp>
        <p:nvSpPr>
          <p:cNvPr id="3" name="Chỗ dành sẵn cho Nội dung 2">
            <a:extLst>
              <a:ext uri="{FF2B5EF4-FFF2-40B4-BE49-F238E27FC236}">
                <a16:creationId xmlns:a16="http://schemas.microsoft.com/office/drawing/2014/main" id="{B78BA7FF-D91F-807A-0823-BDFA1DA9ABC4}"/>
              </a:ext>
            </a:extLst>
          </p:cNvPr>
          <p:cNvSpPr>
            <a:spLocks noGrp="1"/>
          </p:cNvSpPr>
          <p:nvPr>
            <p:ph idx="1"/>
          </p:nvPr>
        </p:nvSpPr>
        <p:spPr>
          <a:xfrm>
            <a:off x="838200" y="2291292"/>
            <a:ext cx="5774267" cy="4351338"/>
          </a:xfrm>
        </p:spPr>
        <p:txBody>
          <a:bodyPr>
            <a:normAutofit/>
          </a:bodyPr>
          <a:lstStyle/>
          <a:p>
            <a:pPr marL="0" indent="0">
              <a:buNone/>
            </a:pPr>
            <a:r>
              <a:rPr lang="vi-VN" sz="2400" b="1" dirty="0">
                <a:solidFill>
                  <a:srgbClr val="00B0F0"/>
                </a:solidFill>
              </a:rPr>
              <a:t>Cơ Chế Trao Đổi Khóa</a:t>
            </a:r>
          </a:p>
          <a:p>
            <a:endParaRPr lang="vi-VN" sz="2000" b="1" dirty="0">
              <a:solidFill>
                <a:srgbClr val="00B0F0"/>
              </a:solidFill>
            </a:endParaRPr>
          </a:p>
          <a:p>
            <a:pPr marL="0" indent="0">
              <a:buNone/>
            </a:pPr>
            <a:r>
              <a:rPr lang="vi-VN" sz="1800" b="1" dirty="0" err="1"/>
              <a:t>Quantum</a:t>
            </a:r>
            <a:r>
              <a:rPr lang="vi-VN" sz="1800" b="1" dirty="0"/>
              <a:t> </a:t>
            </a:r>
            <a:r>
              <a:rPr lang="vi-VN" sz="1800" b="1" dirty="0" err="1"/>
              <a:t>Key</a:t>
            </a:r>
            <a:r>
              <a:rPr lang="vi-VN" sz="1800" b="1" dirty="0"/>
              <a:t> </a:t>
            </a:r>
            <a:r>
              <a:rPr lang="vi-VN" sz="1800" b="1" dirty="0" err="1"/>
              <a:t>Distribution</a:t>
            </a:r>
            <a:r>
              <a:rPr lang="vi-VN" sz="1800" b="1" dirty="0"/>
              <a:t> (QKD) </a:t>
            </a:r>
            <a:r>
              <a:rPr lang="vi-VN" sz="1800" dirty="0"/>
              <a:t>là ứng dụng thực tiễn thành công lớn nhất của cơ học lượng tử.</a:t>
            </a:r>
            <a:endParaRPr lang="vi-VN" sz="1800" dirty="0">
              <a:solidFill>
                <a:srgbClr val="00B0F0"/>
              </a:solidFill>
            </a:endParaRPr>
          </a:p>
        </p:txBody>
      </p:sp>
      <p:sp>
        <p:nvSpPr>
          <p:cNvPr id="5" name="Hộp Văn bản 4">
            <a:extLst>
              <a:ext uri="{FF2B5EF4-FFF2-40B4-BE49-F238E27FC236}">
                <a16:creationId xmlns:a16="http://schemas.microsoft.com/office/drawing/2014/main" id="{420C14DB-2447-AB58-681B-A2A90872060D}"/>
              </a:ext>
            </a:extLst>
          </p:cNvPr>
          <p:cNvSpPr txBox="1"/>
          <p:nvPr/>
        </p:nvSpPr>
        <p:spPr>
          <a:xfrm>
            <a:off x="838200" y="3746268"/>
            <a:ext cx="6096000" cy="1200329"/>
          </a:xfrm>
          <a:prstGeom prst="rect">
            <a:avLst/>
          </a:prstGeom>
          <a:noFill/>
        </p:spPr>
        <p:txBody>
          <a:bodyPr wrap="square">
            <a:spAutoFit/>
          </a:bodyPr>
          <a:lstStyle/>
          <a:p>
            <a:r>
              <a:rPr lang="vi-VN" sz="1800" b="0" i="0" u="none" strike="noStrike" dirty="0">
                <a:effectLst/>
              </a:rPr>
              <a:t>Hệ thống truyền thông tin trực tiếp bằng trạng thái phân cực của các hạt </a:t>
            </a:r>
            <a:r>
              <a:rPr lang="vi-VN" sz="1800" b="0" i="0" u="none" strike="noStrike" dirty="0" err="1">
                <a:effectLst/>
              </a:rPr>
              <a:t>photon</a:t>
            </a:r>
            <a:r>
              <a:rPr lang="vi-VN" sz="1800" b="0" i="0" u="none" strike="noStrike" dirty="0">
                <a:effectLst/>
              </a:rPr>
              <a:t> đơn lẻ, giúp hai bên thiết lập chuỗi khóa bảo mật trước khi truyền dữ liệu qua kênh truyền thống.</a:t>
            </a:r>
            <a:endParaRPr lang="vi-VN" dirty="0"/>
          </a:p>
        </p:txBody>
      </p:sp>
      <p:pic>
        <p:nvPicPr>
          <p:cNvPr id="6" name="Hình ảnh 5" descr="image.png">
            <a:extLst>
              <a:ext uri="{FF2B5EF4-FFF2-40B4-BE49-F238E27FC236}">
                <a16:creationId xmlns:a16="http://schemas.microsoft.com/office/drawing/2014/main" id="{D98D9EF6-FDA3-6035-61FF-09EBDF8CF655}"/>
              </a:ext>
            </a:extLst>
          </p:cNvPr>
          <p:cNvPicPr>
            <a:picLocks noChangeAspect="1"/>
          </p:cNvPicPr>
          <p:nvPr/>
        </p:nvPicPr>
        <p:blipFill>
          <a:blip r:embed="rId2"/>
          <a:stretch>
            <a:fillRect/>
          </a:stretch>
        </p:blipFill>
        <p:spPr>
          <a:xfrm>
            <a:off x="6942667" y="365125"/>
            <a:ext cx="4961466" cy="6127750"/>
          </a:xfrm>
          <a:prstGeom prst="rect">
            <a:avLst/>
          </a:prstGeom>
        </p:spPr>
      </p:pic>
    </p:spTree>
    <p:extLst>
      <p:ext uri="{BB962C8B-B14F-4D97-AF65-F5344CB8AC3E}">
        <p14:creationId xmlns:p14="http://schemas.microsoft.com/office/powerpoint/2010/main" val="756173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Hình ảnh 3" descr="image.png">
            <a:extLst>
              <a:ext uri="{FF2B5EF4-FFF2-40B4-BE49-F238E27FC236}">
                <a16:creationId xmlns:a16="http://schemas.microsoft.com/office/drawing/2014/main" id="{C83172FF-F51B-39D8-5BBE-C79477AEC204}"/>
              </a:ext>
            </a:extLst>
          </p:cNvPr>
          <p:cNvPicPr>
            <a:picLocks noChangeAspect="1"/>
          </p:cNvPicPr>
          <p:nvPr/>
        </p:nvPicPr>
        <p:blipFill>
          <a:blip r:embed="rId2"/>
          <a:stretch>
            <a:fillRect/>
          </a:stretch>
        </p:blipFill>
        <p:spPr>
          <a:xfrm>
            <a:off x="778932" y="365126"/>
            <a:ext cx="10515601" cy="5811838"/>
          </a:xfrm>
          <a:prstGeom prst="rect">
            <a:avLst/>
          </a:prstGeom>
        </p:spPr>
      </p:pic>
      <p:sp>
        <p:nvSpPr>
          <p:cNvPr id="2" name="Tiêu đề 1">
            <a:extLst>
              <a:ext uri="{FF2B5EF4-FFF2-40B4-BE49-F238E27FC236}">
                <a16:creationId xmlns:a16="http://schemas.microsoft.com/office/drawing/2014/main" id="{FCCE9D61-9719-9C5F-A03E-14932F5E18CA}"/>
              </a:ext>
            </a:extLst>
          </p:cNvPr>
          <p:cNvSpPr>
            <a:spLocks noGrp="1"/>
          </p:cNvSpPr>
          <p:nvPr>
            <p:ph type="title"/>
          </p:nvPr>
        </p:nvSpPr>
        <p:spPr/>
        <p:txBody>
          <a:bodyPr>
            <a:normAutofit/>
          </a:bodyPr>
          <a:lstStyle/>
          <a:p>
            <a:r>
              <a:rPr lang="vi-VN" sz="3200" b="1" dirty="0">
                <a:solidFill>
                  <a:schemeClr val="bg1"/>
                </a:solidFill>
                <a:latin typeface="+mn-lt"/>
              </a:rPr>
              <a:t>Lịch Sử Giao Thức BB84</a:t>
            </a:r>
            <a:endParaRPr lang="vi-VN" sz="3200" dirty="0">
              <a:solidFill>
                <a:schemeClr val="bg1"/>
              </a:solidFill>
              <a:latin typeface="+mn-lt"/>
            </a:endParaRPr>
          </a:p>
        </p:txBody>
      </p:sp>
      <p:sp>
        <p:nvSpPr>
          <p:cNvPr id="3" name="Chỗ dành sẵn cho Nội dung 2">
            <a:extLst>
              <a:ext uri="{FF2B5EF4-FFF2-40B4-BE49-F238E27FC236}">
                <a16:creationId xmlns:a16="http://schemas.microsoft.com/office/drawing/2014/main" id="{403F90A9-9B97-149C-8816-5E096D51DBE3}"/>
              </a:ext>
            </a:extLst>
          </p:cNvPr>
          <p:cNvSpPr>
            <a:spLocks noGrp="1"/>
          </p:cNvSpPr>
          <p:nvPr>
            <p:ph idx="1"/>
          </p:nvPr>
        </p:nvSpPr>
        <p:spPr>
          <a:xfrm>
            <a:off x="778932" y="1880206"/>
            <a:ext cx="5486401" cy="4351338"/>
          </a:xfrm>
        </p:spPr>
        <p:txBody>
          <a:bodyPr/>
          <a:lstStyle/>
          <a:p>
            <a:r>
              <a:rPr lang="vi-VN" b="1" dirty="0"/>
              <a:t>PHÁT MINH GIAO THỨC</a:t>
            </a:r>
            <a:endParaRPr lang="vi-VN" b="0" dirty="0">
              <a:effectLst/>
            </a:endParaRPr>
          </a:p>
          <a:p>
            <a:br>
              <a:rPr lang="vi-VN" dirty="0"/>
            </a:br>
            <a:r>
              <a:rPr lang="vi-VN" sz="2400" dirty="0">
                <a:solidFill>
                  <a:schemeClr val="bg1"/>
                </a:solidFill>
              </a:rPr>
              <a:t>Năm phát minh giao thức BB84</a:t>
            </a:r>
          </a:p>
        </p:txBody>
      </p:sp>
      <p:sp>
        <p:nvSpPr>
          <p:cNvPr id="6" name="Hộp Văn bản 5">
            <a:extLst>
              <a:ext uri="{FF2B5EF4-FFF2-40B4-BE49-F238E27FC236}">
                <a16:creationId xmlns:a16="http://schemas.microsoft.com/office/drawing/2014/main" id="{F91638FE-14ED-507E-6034-28B32E8F010A}"/>
              </a:ext>
            </a:extLst>
          </p:cNvPr>
          <p:cNvSpPr txBox="1"/>
          <p:nvPr/>
        </p:nvSpPr>
        <p:spPr>
          <a:xfrm>
            <a:off x="1930400" y="3271045"/>
            <a:ext cx="2777067" cy="1569660"/>
          </a:xfrm>
          <a:prstGeom prst="rect">
            <a:avLst/>
          </a:prstGeom>
          <a:noFill/>
        </p:spPr>
        <p:txBody>
          <a:bodyPr wrap="square">
            <a:spAutoFit/>
          </a:bodyPr>
          <a:lstStyle/>
          <a:p>
            <a:r>
              <a:rPr lang="vi-VN" sz="9600" b="1" i="0" u="none" strike="noStrike" dirty="0">
                <a:solidFill>
                  <a:srgbClr val="00F2FE"/>
                </a:solidFill>
                <a:effectLst/>
                <a:latin typeface="Space Grotesk"/>
              </a:rPr>
              <a:t>1984</a:t>
            </a:r>
            <a:endParaRPr lang="vi-VN" dirty="0"/>
          </a:p>
        </p:txBody>
      </p:sp>
      <p:sp>
        <p:nvSpPr>
          <p:cNvPr id="10" name="Hộp Văn bản 9">
            <a:extLst>
              <a:ext uri="{FF2B5EF4-FFF2-40B4-BE49-F238E27FC236}">
                <a16:creationId xmlns:a16="http://schemas.microsoft.com/office/drawing/2014/main" id="{30BE90E9-7F26-4555-4593-AAA5F50A2EA1}"/>
              </a:ext>
            </a:extLst>
          </p:cNvPr>
          <p:cNvSpPr txBox="1"/>
          <p:nvPr/>
        </p:nvSpPr>
        <p:spPr>
          <a:xfrm>
            <a:off x="6265333" y="1880206"/>
            <a:ext cx="5029200" cy="461665"/>
          </a:xfrm>
          <a:prstGeom prst="rect">
            <a:avLst/>
          </a:prstGeom>
          <a:noFill/>
        </p:spPr>
        <p:txBody>
          <a:bodyPr wrap="square">
            <a:spAutoFit/>
          </a:bodyPr>
          <a:lstStyle/>
          <a:p>
            <a:r>
              <a:rPr lang="vi-VN" sz="2400" b="1" i="0" u="none" strike="noStrike" dirty="0">
                <a:solidFill>
                  <a:srgbClr val="00F2FE"/>
                </a:solidFill>
                <a:effectLst/>
              </a:rPr>
              <a:t>Cột Mốc Lịch Sử Lượng Tử</a:t>
            </a:r>
            <a:endParaRPr lang="vi-VN" sz="2400" dirty="0"/>
          </a:p>
        </p:txBody>
      </p:sp>
      <p:sp>
        <p:nvSpPr>
          <p:cNvPr id="12" name="Hộp Văn bản 11">
            <a:extLst>
              <a:ext uri="{FF2B5EF4-FFF2-40B4-BE49-F238E27FC236}">
                <a16:creationId xmlns:a16="http://schemas.microsoft.com/office/drawing/2014/main" id="{9352621F-4FAE-5C41-A6A9-289CEF80B0D1}"/>
              </a:ext>
            </a:extLst>
          </p:cNvPr>
          <p:cNvSpPr txBox="1"/>
          <p:nvPr/>
        </p:nvSpPr>
        <p:spPr>
          <a:xfrm>
            <a:off x="6096000" y="3050801"/>
            <a:ext cx="4936066" cy="923330"/>
          </a:xfrm>
          <a:prstGeom prst="rect">
            <a:avLst/>
          </a:prstGeom>
          <a:noFill/>
        </p:spPr>
        <p:txBody>
          <a:bodyPr wrap="square">
            <a:spAutoFit/>
          </a:bodyPr>
          <a:lstStyle/>
          <a:p>
            <a:r>
              <a:rPr lang="vi-VN" sz="1800" b="1" i="0" u="none" strike="noStrike" dirty="0">
                <a:solidFill>
                  <a:schemeClr val="bg1"/>
                </a:solidFill>
                <a:effectLst/>
              </a:rPr>
              <a:t>Giao thức BB84 </a:t>
            </a:r>
            <a:r>
              <a:rPr lang="vi-VN" sz="1800" b="0" i="0" u="none" strike="noStrike" dirty="0">
                <a:solidFill>
                  <a:schemeClr val="bg1"/>
                </a:solidFill>
                <a:effectLst/>
              </a:rPr>
              <a:t>được đề xuất lần đầu tiên bởi hai nhà khoa học nổi tiếng </a:t>
            </a:r>
            <a:r>
              <a:rPr lang="vi-VN" sz="1800" b="1" i="0" u="none" strike="noStrike" dirty="0" err="1">
                <a:solidFill>
                  <a:schemeClr val="bg1"/>
                </a:solidFill>
                <a:effectLst/>
              </a:rPr>
              <a:t>Charles</a:t>
            </a:r>
            <a:r>
              <a:rPr lang="vi-VN" sz="1800" b="1" i="0" u="none" strike="noStrike" dirty="0">
                <a:solidFill>
                  <a:schemeClr val="bg1"/>
                </a:solidFill>
                <a:effectLst/>
              </a:rPr>
              <a:t> </a:t>
            </a:r>
            <a:r>
              <a:rPr lang="vi-VN" sz="1800" b="1" i="0" u="none" strike="noStrike" dirty="0" err="1">
                <a:solidFill>
                  <a:schemeClr val="bg1"/>
                </a:solidFill>
                <a:effectLst/>
              </a:rPr>
              <a:t>Bennett</a:t>
            </a:r>
            <a:r>
              <a:rPr lang="vi-VN" sz="1800" b="0" i="0" u="none" strike="noStrike" dirty="0">
                <a:solidFill>
                  <a:schemeClr val="bg1"/>
                </a:solidFill>
                <a:effectLst/>
              </a:rPr>
              <a:t> và </a:t>
            </a:r>
            <a:r>
              <a:rPr lang="vi-VN" sz="1800" b="1" i="0" u="none" strike="noStrike" dirty="0" err="1">
                <a:solidFill>
                  <a:schemeClr val="bg1"/>
                </a:solidFill>
                <a:effectLst/>
              </a:rPr>
              <a:t>Gilles</a:t>
            </a:r>
            <a:r>
              <a:rPr lang="vi-VN" sz="1800" b="1" i="0" u="none" strike="noStrike" dirty="0">
                <a:solidFill>
                  <a:schemeClr val="bg1"/>
                </a:solidFill>
                <a:effectLst/>
              </a:rPr>
              <a:t> </a:t>
            </a:r>
            <a:r>
              <a:rPr lang="vi-VN" sz="1800" b="1" i="0" u="none" strike="noStrike" dirty="0" err="1">
                <a:solidFill>
                  <a:schemeClr val="bg1"/>
                </a:solidFill>
                <a:effectLst/>
              </a:rPr>
              <a:t>Brassard</a:t>
            </a:r>
            <a:r>
              <a:rPr lang="vi-VN" sz="1800" b="1" i="0" u="none" strike="noStrike" dirty="0">
                <a:solidFill>
                  <a:schemeClr val="bg1"/>
                </a:solidFill>
                <a:effectLst/>
              </a:rPr>
              <a:t> </a:t>
            </a:r>
            <a:r>
              <a:rPr lang="vi-VN" sz="1800" b="0" i="0" u="none" strike="noStrike" dirty="0">
                <a:solidFill>
                  <a:schemeClr val="bg1"/>
                </a:solidFill>
                <a:effectLst/>
              </a:rPr>
              <a:t>vào năm 1984.</a:t>
            </a:r>
            <a:endParaRPr lang="vi-VN" dirty="0">
              <a:solidFill>
                <a:schemeClr val="bg1"/>
              </a:solidFill>
            </a:endParaRPr>
          </a:p>
        </p:txBody>
      </p:sp>
      <p:sp>
        <p:nvSpPr>
          <p:cNvPr id="14" name="Hộp Văn bản 13">
            <a:extLst>
              <a:ext uri="{FF2B5EF4-FFF2-40B4-BE49-F238E27FC236}">
                <a16:creationId xmlns:a16="http://schemas.microsoft.com/office/drawing/2014/main" id="{0ECCC6A9-F323-817F-1E65-ABD59BBC7BD3}"/>
              </a:ext>
            </a:extLst>
          </p:cNvPr>
          <p:cNvSpPr txBox="1"/>
          <p:nvPr/>
        </p:nvSpPr>
        <p:spPr>
          <a:xfrm>
            <a:off x="6096000" y="4240540"/>
            <a:ext cx="4936067" cy="1200329"/>
          </a:xfrm>
          <a:prstGeom prst="rect">
            <a:avLst/>
          </a:prstGeom>
          <a:noFill/>
        </p:spPr>
        <p:txBody>
          <a:bodyPr wrap="square">
            <a:spAutoFit/>
          </a:bodyPr>
          <a:lstStyle/>
          <a:p>
            <a:r>
              <a:rPr lang="vi-VN" sz="1800" b="0" i="0" u="none" strike="noStrike" dirty="0">
                <a:solidFill>
                  <a:schemeClr val="bg1"/>
                </a:solidFill>
                <a:effectLst/>
              </a:rPr>
              <a:t>Đây là giao thức phân phối khóa lượng tử </a:t>
            </a:r>
            <a:r>
              <a:rPr lang="vi-VN" sz="1800" b="1" i="0" u="none" strike="noStrike" dirty="0">
                <a:solidFill>
                  <a:schemeClr val="bg1"/>
                </a:solidFill>
                <a:effectLst/>
              </a:rPr>
              <a:t>(QKD) </a:t>
            </a:r>
            <a:r>
              <a:rPr lang="vi-VN" sz="1800" b="0" i="0" u="none" strike="noStrike" dirty="0">
                <a:solidFill>
                  <a:schemeClr val="bg1"/>
                </a:solidFill>
                <a:effectLst/>
              </a:rPr>
              <a:t>đầu tiên và được kiểm chứng là nền tảng tối ưu nhất trong lý thuyết an toàn lượng tử.</a:t>
            </a:r>
            <a:endParaRPr lang="vi-VN" dirty="0">
              <a:solidFill>
                <a:schemeClr val="bg1"/>
              </a:solidFill>
            </a:endParaRPr>
          </a:p>
        </p:txBody>
      </p:sp>
    </p:spTree>
    <p:extLst>
      <p:ext uri="{BB962C8B-B14F-4D97-AF65-F5344CB8AC3E}">
        <p14:creationId xmlns:p14="http://schemas.microsoft.com/office/powerpoint/2010/main" val="3839480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99795DA-2726-C786-DB03-E937D9962B7F}"/>
              </a:ext>
            </a:extLst>
          </p:cNvPr>
          <p:cNvSpPr>
            <a:spLocks noGrp="1"/>
          </p:cNvSpPr>
          <p:nvPr>
            <p:ph type="title"/>
          </p:nvPr>
        </p:nvSpPr>
        <p:spPr/>
        <p:txBody>
          <a:bodyPr>
            <a:normAutofit/>
          </a:bodyPr>
          <a:lstStyle/>
          <a:p>
            <a:endParaRPr lang="vi-VN" sz="3200" dirty="0">
              <a:latin typeface="+mn-lt"/>
            </a:endParaRPr>
          </a:p>
        </p:txBody>
      </p:sp>
      <p:pic>
        <p:nvPicPr>
          <p:cNvPr id="14" name="Hình ảnh 13" descr="image.png">
            <a:extLst>
              <a:ext uri="{FF2B5EF4-FFF2-40B4-BE49-F238E27FC236}">
                <a16:creationId xmlns:a16="http://schemas.microsoft.com/office/drawing/2014/main" id="{E5E9B1DD-13AA-0967-0EB0-F7A0C89E8BFA}"/>
              </a:ext>
            </a:extLst>
          </p:cNvPr>
          <p:cNvPicPr>
            <a:picLocks noChangeAspect="1"/>
          </p:cNvPicPr>
          <p:nvPr/>
        </p:nvPicPr>
        <p:blipFill>
          <a:blip r:embed="rId2"/>
          <a:stretch>
            <a:fillRect/>
          </a:stretch>
        </p:blipFill>
        <p:spPr>
          <a:xfrm>
            <a:off x="838200" y="365125"/>
            <a:ext cx="10515600" cy="6045835"/>
          </a:xfrm>
          <a:prstGeom prst="rect">
            <a:avLst/>
          </a:prstGeom>
        </p:spPr>
      </p:pic>
      <p:sp>
        <p:nvSpPr>
          <p:cNvPr id="16" name="Hộp Văn bản 15">
            <a:extLst>
              <a:ext uri="{FF2B5EF4-FFF2-40B4-BE49-F238E27FC236}">
                <a16:creationId xmlns:a16="http://schemas.microsoft.com/office/drawing/2014/main" id="{4FF78562-96B8-FBF6-FBA1-136B802713B1}"/>
              </a:ext>
            </a:extLst>
          </p:cNvPr>
          <p:cNvSpPr txBox="1"/>
          <p:nvPr/>
        </p:nvSpPr>
        <p:spPr>
          <a:xfrm>
            <a:off x="1397001" y="899388"/>
            <a:ext cx="8856132" cy="584775"/>
          </a:xfrm>
          <a:prstGeom prst="rect">
            <a:avLst/>
          </a:prstGeom>
          <a:noFill/>
        </p:spPr>
        <p:txBody>
          <a:bodyPr wrap="square">
            <a:spAutoFit/>
          </a:bodyPr>
          <a:lstStyle/>
          <a:p>
            <a:r>
              <a:rPr lang="vi-VN" sz="3200" b="1" i="0" u="none" strike="noStrike" dirty="0">
                <a:solidFill>
                  <a:srgbClr val="FFFFFF"/>
                </a:solidFill>
                <a:effectLst/>
                <a:latin typeface="Space Grotesk"/>
              </a:rPr>
              <a:t>C</a:t>
            </a:r>
            <a:r>
              <a:rPr lang="vi-VN" sz="3200" b="1" i="0" u="none" strike="noStrike" dirty="0">
                <a:solidFill>
                  <a:srgbClr val="FFFFFF"/>
                </a:solidFill>
                <a:effectLst/>
              </a:rPr>
              <a:t>ơ Chế Phân Cực </a:t>
            </a:r>
            <a:r>
              <a:rPr lang="vi-VN" sz="3200" b="1" i="0" u="none" strike="noStrike" dirty="0" err="1">
                <a:solidFill>
                  <a:srgbClr val="FFFFFF"/>
                </a:solidFill>
                <a:effectLst/>
              </a:rPr>
              <a:t>Photon</a:t>
            </a:r>
            <a:r>
              <a:rPr lang="vi-VN" sz="3200" b="1" i="0" u="none" strike="noStrike" dirty="0">
                <a:solidFill>
                  <a:srgbClr val="FFFFFF"/>
                </a:solidFill>
                <a:effectLst/>
              </a:rPr>
              <a:t> BB84</a:t>
            </a:r>
            <a:endParaRPr lang="vi-VN" sz="3200" dirty="0"/>
          </a:p>
        </p:txBody>
      </p:sp>
      <p:sp>
        <p:nvSpPr>
          <p:cNvPr id="18" name="Hộp Văn bản 17">
            <a:extLst>
              <a:ext uri="{FF2B5EF4-FFF2-40B4-BE49-F238E27FC236}">
                <a16:creationId xmlns:a16="http://schemas.microsoft.com/office/drawing/2014/main" id="{2A166EC1-8285-A9B3-84DD-D92D45D06A45}"/>
              </a:ext>
            </a:extLst>
          </p:cNvPr>
          <p:cNvSpPr txBox="1"/>
          <p:nvPr/>
        </p:nvSpPr>
        <p:spPr>
          <a:xfrm>
            <a:off x="1447798" y="1907679"/>
            <a:ext cx="6096000" cy="461665"/>
          </a:xfrm>
          <a:prstGeom prst="rect">
            <a:avLst/>
          </a:prstGeom>
          <a:noFill/>
        </p:spPr>
        <p:txBody>
          <a:bodyPr wrap="square">
            <a:spAutoFit/>
          </a:bodyPr>
          <a:lstStyle/>
          <a:p>
            <a:r>
              <a:rPr lang="vi-VN" sz="2400" b="1" i="0" u="none" strike="noStrike" dirty="0">
                <a:solidFill>
                  <a:srgbClr val="00F2FE"/>
                </a:solidFill>
                <a:effectLst/>
              </a:rPr>
              <a:t>Cơ Sở Phân Cực Và </a:t>
            </a:r>
            <a:r>
              <a:rPr lang="vi-VN" sz="2400" b="1" i="0" u="none" strike="noStrike" dirty="0" err="1">
                <a:solidFill>
                  <a:srgbClr val="00F2FE"/>
                </a:solidFill>
                <a:effectLst/>
              </a:rPr>
              <a:t>Qubit</a:t>
            </a:r>
            <a:endParaRPr lang="vi-VN" sz="2400" dirty="0"/>
          </a:p>
        </p:txBody>
      </p:sp>
      <p:sp>
        <p:nvSpPr>
          <p:cNvPr id="20" name="Hộp Văn bản 19">
            <a:extLst>
              <a:ext uri="{FF2B5EF4-FFF2-40B4-BE49-F238E27FC236}">
                <a16:creationId xmlns:a16="http://schemas.microsoft.com/office/drawing/2014/main" id="{12E81DB8-0FB0-F841-6A1B-C302FD10EBD2}"/>
              </a:ext>
            </a:extLst>
          </p:cNvPr>
          <p:cNvSpPr txBox="1"/>
          <p:nvPr/>
        </p:nvSpPr>
        <p:spPr>
          <a:xfrm>
            <a:off x="1447798" y="2782669"/>
            <a:ext cx="5003802" cy="923330"/>
          </a:xfrm>
          <a:prstGeom prst="rect">
            <a:avLst/>
          </a:prstGeom>
          <a:noFill/>
        </p:spPr>
        <p:txBody>
          <a:bodyPr wrap="square">
            <a:spAutoFit/>
          </a:bodyPr>
          <a:lstStyle/>
          <a:p>
            <a:r>
              <a:rPr lang="vi-VN" sz="1800" b="0" i="0" u="none" strike="noStrike" dirty="0">
                <a:solidFill>
                  <a:schemeClr val="bg1"/>
                </a:solidFill>
                <a:effectLst/>
              </a:rPr>
              <a:t>BB84 mã hóa </a:t>
            </a:r>
            <a:r>
              <a:rPr lang="vi-VN" sz="1800" b="0" i="0" u="none" strike="noStrike" dirty="0" err="1">
                <a:solidFill>
                  <a:schemeClr val="bg1"/>
                </a:solidFill>
                <a:effectLst/>
              </a:rPr>
              <a:t>bit</a:t>
            </a:r>
            <a:r>
              <a:rPr lang="vi-VN" sz="1800" b="0" i="0" u="none" strike="noStrike" dirty="0">
                <a:solidFill>
                  <a:schemeClr val="bg1"/>
                </a:solidFill>
                <a:effectLst/>
              </a:rPr>
              <a:t> nhị phân vào trạng thái phân cực lượng tử của </a:t>
            </a:r>
            <a:r>
              <a:rPr lang="vi-VN" sz="1800" b="0" i="0" u="none" strike="noStrike" dirty="0" err="1">
                <a:solidFill>
                  <a:schemeClr val="bg1"/>
                </a:solidFill>
                <a:effectLst/>
              </a:rPr>
              <a:t>photon</a:t>
            </a:r>
            <a:r>
              <a:rPr lang="vi-VN" sz="1800" b="0" i="0" u="none" strike="noStrike" dirty="0">
                <a:solidFill>
                  <a:schemeClr val="bg1"/>
                </a:solidFill>
                <a:effectLst/>
              </a:rPr>
              <a:t> bằng cách sử dụng 2 cơ sở đo không trực giao:</a:t>
            </a:r>
            <a:endParaRPr lang="vi-VN" dirty="0">
              <a:solidFill>
                <a:schemeClr val="bg1"/>
              </a:solidFill>
            </a:endParaRPr>
          </a:p>
        </p:txBody>
      </p:sp>
      <p:sp>
        <p:nvSpPr>
          <p:cNvPr id="22" name="Hộp Văn bản 21">
            <a:extLst>
              <a:ext uri="{FF2B5EF4-FFF2-40B4-BE49-F238E27FC236}">
                <a16:creationId xmlns:a16="http://schemas.microsoft.com/office/drawing/2014/main" id="{5C9241E5-E6AA-4936-CE46-451D3A043385}"/>
              </a:ext>
            </a:extLst>
          </p:cNvPr>
          <p:cNvSpPr txBox="1"/>
          <p:nvPr/>
        </p:nvSpPr>
        <p:spPr>
          <a:xfrm>
            <a:off x="1397001" y="3990019"/>
            <a:ext cx="6096000" cy="923330"/>
          </a:xfrm>
          <a:prstGeom prst="rect">
            <a:avLst/>
          </a:prstGeom>
          <a:solidFill>
            <a:schemeClr val="tx1"/>
          </a:solidFill>
          <a:ln>
            <a:solidFill>
              <a:schemeClr val="tx1"/>
            </a:solidFill>
          </a:ln>
        </p:spPr>
        <p:txBody>
          <a:bodyPr wrap="square">
            <a:spAutoFit/>
          </a:bodyPr>
          <a:lstStyle/>
          <a:p>
            <a:pPr rtl="0">
              <a:buNone/>
            </a:pPr>
            <a:r>
              <a:rPr lang="vi-VN" sz="1800" b="0" i="0" u="none" strike="noStrike">
                <a:solidFill>
                  <a:schemeClr val="bg1"/>
                </a:solidFill>
                <a:effectLst/>
                <a:latin typeface="Space Grotesk"/>
              </a:rPr>
              <a:t>Cơ sở trực giao (+):</a:t>
            </a:r>
            <a:endParaRPr lang="vi-VN" b="0">
              <a:solidFill>
                <a:schemeClr val="bg1"/>
              </a:solidFill>
              <a:effectLst/>
            </a:endParaRPr>
          </a:p>
          <a:p>
            <a:pPr>
              <a:buNone/>
            </a:pPr>
            <a:br>
              <a:rPr lang="vi-VN">
                <a:solidFill>
                  <a:schemeClr val="bg1"/>
                </a:solidFill>
              </a:rPr>
            </a:br>
            <a:endParaRPr lang="vi-VN" dirty="0">
              <a:solidFill>
                <a:schemeClr val="bg1"/>
              </a:solidFill>
            </a:endParaRPr>
          </a:p>
        </p:txBody>
      </p:sp>
      <p:pic>
        <p:nvPicPr>
          <p:cNvPr id="23" name="Hình ảnh 22" descr="image.png">
            <a:extLst>
              <a:ext uri="{FF2B5EF4-FFF2-40B4-BE49-F238E27FC236}">
                <a16:creationId xmlns:a16="http://schemas.microsoft.com/office/drawing/2014/main" id="{899827FD-3438-5267-F836-33AB3519360B}"/>
              </a:ext>
            </a:extLst>
          </p:cNvPr>
          <p:cNvPicPr>
            <a:picLocks noChangeAspect="1"/>
          </p:cNvPicPr>
          <p:nvPr/>
        </p:nvPicPr>
        <p:blipFill>
          <a:blip r:embed="rId3"/>
          <a:stretch>
            <a:fillRect/>
          </a:stretch>
        </p:blipFill>
        <p:spPr>
          <a:xfrm>
            <a:off x="3325812" y="4104905"/>
            <a:ext cx="1019175" cy="190500"/>
          </a:xfrm>
          <a:prstGeom prst="rect">
            <a:avLst/>
          </a:prstGeom>
        </p:spPr>
      </p:pic>
      <p:pic>
        <p:nvPicPr>
          <p:cNvPr id="24" name="Hình ảnh 23" descr="image.png">
            <a:extLst>
              <a:ext uri="{FF2B5EF4-FFF2-40B4-BE49-F238E27FC236}">
                <a16:creationId xmlns:a16="http://schemas.microsoft.com/office/drawing/2014/main" id="{5D76F281-8906-2964-CEFF-ED128941F21A}"/>
              </a:ext>
            </a:extLst>
          </p:cNvPr>
          <p:cNvPicPr>
            <a:picLocks noChangeAspect="1"/>
          </p:cNvPicPr>
          <p:nvPr/>
        </p:nvPicPr>
        <p:blipFill>
          <a:blip r:embed="rId4"/>
          <a:stretch>
            <a:fillRect/>
          </a:stretch>
        </p:blipFill>
        <p:spPr>
          <a:xfrm>
            <a:off x="4805892" y="4104905"/>
            <a:ext cx="1019175" cy="190500"/>
          </a:xfrm>
          <a:prstGeom prst="rect">
            <a:avLst/>
          </a:prstGeom>
        </p:spPr>
      </p:pic>
      <p:sp>
        <p:nvSpPr>
          <p:cNvPr id="26" name="Hộp Văn bản 25">
            <a:extLst>
              <a:ext uri="{FF2B5EF4-FFF2-40B4-BE49-F238E27FC236}">
                <a16:creationId xmlns:a16="http://schemas.microsoft.com/office/drawing/2014/main" id="{BBA14C2C-EDC2-BFA6-7E36-1E61075FDFF0}"/>
              </a:ext>
            </a:extLst>
          </p:cNvPr>
          <p:cNvSpPr txBox="1"/>
          <p:nvPr/>
        </p:nvSpPr>
        <p:spPr>
          <a:xfrm>
            <a:off x="1397001" y="5007472"/>
            <a:ext cx="5995986" cy="646331"/>
          </a:xfrm>
          <a:prstGeom prst="rect">
            <a:avLst/>
          </a:prstGeom>
          <a:noFill/>
        </p:spPr>
        <p:txBody>
          <a:bodyPr wrap="square">
            <a:spAutoFit/>
          </a:bodyPr>
          <a:lstStyle/>
          <a:p>
            <a:r>
              <a:rPr lang="vi-VN" dirty="0" err="1">
                <a:solidFill>
                  <a:schemeClr val="bg1"/>
                </a:solidFill>
              </a:rPr>
              <a:t>Alice</a:t>
            </a:r>
            <a:r>
              <a:rPr lang="vi-VN" dirty="0">
                <a:solidFill>
                  <a:schemeClr val="bg1"/>
                </a:solidFill>
              </a:rPr>
              <a:t> gán ngẫu nhiên một cơ sở để phát trạng thái phân cực cho mỗi hạt </a:t>
            </a:r>
            <a:r>
              <a:rPr lang="vi-VN" dirty="0" err="1">
                <a:solidFill>
                  <a:schemeClr val="bg1"/>
                </a:solidFill>
              </a:rPr>
              <a:t>photon</a:t>
            </a:r>
            <a:r>
              <a:rPr lang="vi-VN" dirty="0">
                <a:solidFill>
                  <a:schemeClr val="bg1"/>
                </a:solidFill>
              </a:rPr>
              <a:t>.</a:t>
            </a:r>
          </a:p>
        </p:txBody>
      </p:sp>
      <p:sp>
        <p:nvSpPr>
          <p:cNvPr id="28" name="Hộp Văn bản 27">
            <a:extLst>
              <a:ext uri="{FF2B5EF4-FFF2-40B4-BE49-F238E27FC236}">
                <a16:creationId xmlns:a16="http://schemas.microsoft.com/office/drawing/2014/main" id="{EB7FFB0B-B1A4-262B-4A6E-63E2E95DB035}"/>
              </a:ext>
            </a:extLst>
          </p:cNvPr>
          <p:cNvSpPr txBox="1"/>
          <p:nvPr/>
        </p:nvSpPr>
        <p:spPr>
          <a:xfrm>
            <a:off x="4344987" y="4566570"/>
            <a:ext cx="6096000" cy="923330"/>
          </a:xfrm>
          <a:prstGeom prst="rect">
            <a:avLst/>
          </a:prstGeom>
          <a:noFill/>
        </p:spPr>
        <p:txBody>
          <a:bodyPr wrap="square">
            <a:spAutoFit/>
          </a:bodyPr>
          <a:lstStyle/>
          <a:p>
            <a:pPr rtl="0">
              <a:buNone/>
            </a:pPr>
            <a:r>
              <a:rPr lang="vi-VN" sz="1800" b="0" i="0" u="none" strike="noStrike" dirty="0">
                <a:solidFill>
                  <a:srgbClr val="FFFFFF"/>
                </a:solidFill>
                <a:effectLst/>
                <a:latin typeface="Space Grotesk"/>
              </a:rPr>
              <a:t>và</a:t>
            </a:r>
            <a:endParaRPr lang="vi-VN" b="0" dirty="0">
              <a:effectLst/>
            </a:endParaRPr>
          </a:p>
          <a:p>
            <a:pPr>
              <a:buNone/>
            </a:pPr>
            <a:br>
              <a:rPr lang="vi-VN" dirty="0"/>
            </a:br>
            <a:endParaRPr lang="vi-VN" dirty="0"/>
          </a:p>
        </p:txBody>
      </p:sp>
      <p:sp>
        <p:nvSpPr>
          <p:cNvPr id="30" name="Hộp Văn bản 29">
            <a:extLst>
              <a:ext uri="{FF2B5EF4-FFF2-40B4-BE49-F238E27FC236}">
                <a16:creationId xmlns:a16="http://schemas.microsoft.com/office/drawing/2014/main" id="{76A41413-3F75-154E-D39C-49190C6CF82D}"/>
              </a:ext>
            </a:extLst>
          </p:cNvPr>
          <p:cNvSpPr txBox="1"/>
          <p:nvPr/>
        </p:nvSpPr>
        <p:spPr>
          <a:xfrm>
            <a:off x="1414727" y="4587267"/>
            <a:ext cx="6096000" cy="923330"/>
          </a:xfrm>
          <a:prstGeom prst="rect">
            <a:avLst/>
          </a:prstGeom>
          <a:noFill/>
        </p:spPr>
        <p:txBody>
          <a:bodyPr wrap="square">
            <a:spAutoFit/>
          </a:bodyPr>
          <a:lstStyle/>
          <a:p>
            <a:pPr rtl="0">
              <a:buNone/>
            </a:pPr>
            <a:r>
              <a:rPr lang="vi-VN" sz="1800" b="0" i="0" u="none" strike="noStrike" dirty="0">
                <a:solidFill>
                  <a:srgbClr val="FFFFFF"/>
                </a:solidFill>
                <a:effectLst/>
                <a:latin typeface="Space Grotesk"/>
              </a:rPr>
              <a:t>Cơ sở chéo (×): </a:t>
            </a:r>
            <a:endParaRPr lang="vi-VN" b="0" dirty="0">
              <a:effectLst/>
            </a:endParaRPr>
          </a:p>
          <a:p>
            <a:pPr>
              <a:buNone/>
            </a:pPr>
            <a:br>
              <a:rPr lang="vi-VN" dirty="0"/>
            </a:br>
            <a:endParaRPr lang="vi-VN" dirty="0"/>
          </a:p>
        </p:txBody>
      </p:sp>
      <p:pic>
        <p:nvPicPr>
          <p:cNvPr id="31" name="Hình ảnh 30" descr="image.png">
            <a:extLst>
              <a:ext uri="{FF2B5EF4-FFF2-40B4-BE49-F238E27FC236}">
                <a16:creationId xmlns:a16="http://schemas.microsoft.com/office/drawing/2014/main" id="{7CF7404E-4F91-EB22-3F4F-ECF9EDC5AD40}"/>
              </a:ext>
            </a:extLst>
          </p:cNvPr>
          <p:cNvPicPr>
            <a:picLocks noChangeAspect="1"/>
          </p:cNvPicPr>
          <p:nvPr/>
        </p:nvPicPr>
        <p:blipFill>
          <a:blip r:embed="rId5"/>
          <a:stretch>
            <a:fillRect/>
          </a:stretch>
        </p:blipFill>
        <p:spPr>
          <a:xfrm>
            <a:off x="3325811" y="4674816"/>
            <a:ext cx="1019175" cy="190500"/>
          </a:xfrm>
          <a:prstGeom prst="rect">
            <a:avLst/>
          </a:prstGeom>
        </p:spPr>
      </p:pic>
      <p:pic>
        <p:nvPicPr>
          <p:cNvPr id="32" name="Hình ảnh 31" descr="image.png">
            <a:extLst>
              <a:ext uri="{FF2B5EF4-FFF2-40B4-BE49-F238E27FC236}">
                <a16:creationId xmlns:a16="http://schemas.microsoft.com/office/drawing/2014/main" id="{36F87D14-AB41-61E5-696C-5738C08329CB}"/>
              </a:ext>
            </a:extLst>
          </p:cNvPr>
          <p:cNvPicPr>
            <a:picLocks noChangeAspect="1"/>
          </p:cNvPicPr>
          <p:nvPr/>
        </p:nvPicPr>
        <p:blipFill>
          <a:blip r:embed="rId6"/>
          <a:stretch>
            <a:fillRect/>
          </a:stretch>
        </p:blipFill>
        <p:spPr>
          <a:xfrm>
            <a:off x="4805892" y="4681456"/>
            <a:ext cx="1019175" cy="190500"/>
          </a:xfrm>
          <a:prstGeom prst="rect">
            <a:avLst/>
          </a:prstGeom>
        </p:spPr>
      </p:pic>
      <p:pic>
        <p:nvPicPr>
          <p:cNvPr id="33" name="Hình ảnh 32" descr="image.png">
            <a:extLst>
              <a:ext uri="{FF2B5EF4-FFF2-40B4-BE49-F238E27FC236}">
                <a16:creationId xmlns:a16="http://schemas.microsoft.com/office/drawing/2014/main" id="{ABBECEF1-A98C-7C72-43F1-D34E163B55F7}"/>
              </a:ext>
            </a:extLst>
          </p:cNvPr>
          <p:cNvPicPr>
            <a:picLocks noChangeAspect="1"/>
          </p:cNvPicPr>
          <p:nvPr/>
        </p:nvPicPr>
        <p:blipFill>
          <a:blip r:embed="rId7"/>
          <a:stretch>
            <a:fillRect/>
          </a:stretch>
        </p:blipFill>
        <p:spPr>
          <a:xfrm>
            <a:off x="6672926" y="1284324"/>
            <a:ext cx="4570411" cy="3629025"/>
          </a:xfrm>
          <a:prstGeom prst="rect">
            <a:avLst/>
          </a:prstGeom>
        </p:spPr>
      </p:pic>
    </p:spTree>
    <p:extLst>
      <p:ext uri="{BB962C8B-B14F-4D97-AF65-F5344CB8AC3E}">
        <p14:creationId xmlns:p14="http://schemas.microsoft.com/office/powerpoint/2010/main" val="144655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7ED16B5-D60C-759A-89EE-4DA3A5A906B4}"/>
              </a:ext>
            </a:extLst>
          </p:cNvPr>
          <p:cNvSpPr>
            <a:spLocks noGrp="1"/>
          </p:cNvSpPr>
          <p:nvPr>
            <p:ph type="title"/>
          </p:nvPr>
        </p:nvSpPr>
        <p:spPr/>
        <p:txBody>
          <a:bodyPr>
            <a:normAutofit/>
          </a:bodyPr>
          <a:lstStyle/>
          <a:p>
            <a:r>
              <a:rPr lang="vi-VN" sz="3200" b="1" dirty="0">
                <a:latin typeface="+mn-lt"/>
              </a:rPr>
              <a:t>Quy Trình BB84: Truyền Phát </a:t>
            </a:r>
            <a:r>
              <a:rPr lang="vi-VN" sz="3200" b="1" dirty="0" err="1">
                <a:latin typeface="+mn-lt"/>
              </a:rPr>
              <a:t>Photon</a:t>
            </a:r>
            <a:endParaRPr lang="vi-VN" sz="3200" dirty="0">
              <a:latin typeface="+mn-lt"/>
            </a:endParaRPr>
          </a:p>
        </p:txBody>
      </p:sp>
      <p:pic>
        <p:nvPicPr>
          <p:cNvPr id="4" name="Chỗ dành sẵn cho Nội dung 3" descr="image.png">
            <a:extLst>
              <a:ext uri="{FF2B5EF4-FFF2-40B4-BE49-F238E27FC236}">
                <a16:creationId xmlns:a16="http://schemas.microsoft.com/office/drawing/2014/main" id="{D89A3E08-B26D-55C5-6A3D-C388B80E77A8}"/>
              </a:ext>
            </a:extLst>
          </p:cNvPr>
          <p:cNvPicPr>
            <a:picLocks noGrp="1" noChangeAspect="1"/>
          </p:cNvPicPr>
          <p:nvPr>
            <p:ph idx="1"/>
          </p:nvPr>
        </p:nvPicPr>
        <p:blipFill>
          <a:blip r:embed="rId2"/>
          <a:stretch>
            <a:fillRect/>
          </a:stretch>
        </p:blipFill>
        <p:spPr>
          <a:xfrm>
            <a:off x="1036108" y="2280973"/>
            <a:ext cx="247650" cy="257175"/>
          </a:xfrm>
          <a:prstGeom prst="rect">
            <a:avLst/>
          </a:prstGeom>
        </p:spPr>
      </p:pic>
      <p:pic>
        <p:nvPicPr>
          <p:cNvPr id="5" name="Hình ảnh 4" descr="image.png">
            <a:extLst>
              <a:ext uri="{FF2B5EF4-FFF2-40B4-BE49-F238E27FC236}">
                <a16:creationId xmlns:a16="http://schemas.microsoft.com/office/drawing/2014/main" id="{46266945-29E0-C726-ADC9-1C0A933BB88E}"/>
              </a:ext>
            </a:extLst>
          </p:cNvPr>
          <p:cNvPicPr>
            <a:picLocks noChangeAspect="1"/>
          </p:cNvPicPr>
          <p:nvPr/>
        </p:nvPicPr>
        <p:blipFill>
          <a:blip r:embed="rId3"/>
          <a:stretch>
            <a:fillRect/>
          </a:stretch>
        </p:blipFill>
        <p:spPr>
          <a:xfrm>
            <a:off x="1066799" y="3630612"/>
            <a:ext cx="219075" cy="257175"/>
          </a:xfrm>
          <a:prstGeom prst="rect">
            <a:avLst/>
          </a:prstGeom>
        </p:spPr>
      </p:pic>
      <p:pic>
        <p:nvPicPr>
          <p:cNvPr id="6" name="Hình ảnh 5" descr="image.png">
            <a:extLst>
              <a:ext uri="{FF2B5EF4-FFF2-40B4-BE49-F238E27FC236}">
                <a16:creationId xmlns:a16="http://schemas.microsoft.com/office/drawing/2014/main" id="{922355FF-B8C9-622E-E925-EACA35EE866B}"/>
              </a:ext>
            </a:extLst>
          </p:cNvPr>
          <p:cNvPicPr>
            <a:picLocks noChangeAspect="1"/>
          </p:cNvPicPr>
          <p:nvPr/>
        </p:nvPicPr>
        <p:blipFill>
          <a:blip r:embed="rId4"/>
          <a:stretch>
            <a:fillRect/>
          </a:stretch>
        </p:blipFill>
        <p:spPr>
          <a:xfrm>
            <a:off x="1036108" y="4851663"/>
            <a:ext cx="247650" cy="257175"/>
          </a:xfrm>
          <a:prstGeom prst="rect">
            <a:avLst/>
          </a:prstGeom>
        </p:spPr>
      </p:pic>
      <p:sp>
        <p:nvSpPr>
          <p:cNvPr id="8" name="Hộp Văn bản 7">
            <a:extLst>
              <a:ext uri="{FF2B5EF4-FFF2-40B4-BE49-F238E27FC236}">
                <a16:creationId xmlns:a16="http://schemas.microsoft.com/office/drawing/2014/main" id="{00A2EF4A-446C-4C3E-89E3-30AC11361799}"/>
              </a:ext>
            </a:extLst>
          </p:cNvPr>
          <p:cNvSpPr txBox="1"/>
          <p:nvPr/>
        </p:nvSpPr>
        <p:spPr>
          <a:xfrm>
            <a:off x="1693333" y="2076483"/>
            <a:ext cx="8974666" cy="923330"/>
          </a:xfrm>
          <a:prstGeom prst="rect">
            <a:avLst/>
          </a:prstGeom>
          <a:noFill/>
        </p:spPr>
        <p:txBody>
          <a:bodyPr wrap="square">
            <a:spAutoFit/>
          </a:bodyPr>
          <a:lstStyle/>
          <a:p>
            <a:r>
              <a:rPr lang="vi-VN" sz="1800" b="1" i="0" u="none" strike="noStrike" dirty="0">
                <a:effectLst/>
              </a:rPr>
              <a:t>Bước 1: Chuẩn bị </a:t>
            </a:r>
            <a:r>
              <a:rPr lang="vi-VN" sz="1800" b="1" i="0" u="none" strike="noStrike" dirty="0" err="1">
                <a:effectLst/>
              </a:rPr>
              <a:t>photon</a:t>
            </a:r>
            <a:r>
              <a:rPr lang="vi-VN" sz="1800" b="1" i="0" u="none" strike="noStrike" dirty="0">
                <a:effectLst/>
              </a:rPr>
              <a:t> (</a:t>
            </a:r>
            <a:r>
              <a:rPr lang="vi-VN" sz="1800" b="1" i="0" u="none" strike="noStrike" dirty="0" err="1">
                <a:effectLst/>
              </a:rPr>
              <a:t>Alice</a:t>
            </a:r>
            <a:r>
              <a:rPr lang="vi-VN" sz="1800" b="1" i="0" u="none" strike="noStrike" dirty="0">
                <a:effectLst/>
              </a:rPr>
              <a:t>):</a:t>
            </a:r>
            <a:r>
              <a:rPr lang="vi-VN" sz="1800" b="0" i="0" u="none" strike="noStrike" dirty="0">
                <a:effectLst/>
              </a:rPr>
              <a:t> </a:t>
            </a:r>
            <a:r>
              <a:rPr lang="vi-VN" sz="1800" b="0" i="0" u="none" strike="noStrike" dirty="0" err="1">
                <a:effectLst/>
              </a:rPr>
              <a:t>Alice</a:t>
            </a:r>
            <a:r>
              <a:rPr lang="vi-VN" sz="1800" b="0" i="0" u="none" strike="noStrike" dirty="0">
                <a:effectLst/>
              </a:rPr>
              <a:t> sinh chuỗi </a:t>
            </a:r>
            <a:r>
              <a:rPr lang="vi-VN" sz="1800" b="0" i="0" u="none" strike="noStrike" dirty="0" err="1">
                <a:effectLst/>
              </a:rPr>
              <a:t>bit</a:t>
            </a:r>
            <a:r>
              <a:rPr lang="vi-VN" sz="1800" b="0" i="0" u="none" strike="noStrike" dirty="0">
                <a:effectLst/>
              </a:rPr>
              <a:t> nhị phân ngẫu nhiên, tự động gán ngẫu nhiên các cơ sở phân cực (+ hoặc ×) để chuyển đổi mỗi </a:t>
            </a:r>
            <a:r>
              <a:rPr lang="vi-VN" sz="1800" b="0" i="0" u="none" strike="noStrike" dirty="0" err="1">
                <a:effectLst/>
              </a:rPr>
              <a:t>bit</a:t>
            </a:r>
            <a:r>
              <a:rPr lang="vi-VN" sz="1800" b="0" i="0" u="none" strike="noStrike" dirty="0">
                <a:effectLst/>
              </a:rPr>
              <a:t> thành </a:t>
            </a:r>
            <a:r>
              <a:rPr lang="vi-VN" sz="1800" b="0" i="0" u="none" strike="noStrike" dirty="0" err="1">
                <a:effectLst/>
              </a:rPr>
              <a:t>photon</a:t>
            </a:r>
            <a:r>
              <a:rPr lang="vi-VN" sz="1800" b="0" i="0" u="none" strike="noStrike" dirty="0">
                <a:effectLst/>
              </a:rPr>
              <a:t> lượng tử đơn lẻ.</a:t>
            </a:r>
            <a:endParaRPr lang="vi-VN" dirty="0"/>
          </a:p>
        </p:txBody>
      </p:sp>
      <p:sp>
        <p:nvSpPr>
          <p:cNvPr id="10" name="Hộp Văn bản 9">
            <a:extLst>
              <a:ext uri="{FF2B5EF4-FFF2-40B4-BE49-F238E27FC236}">
                <a16:creationId xmlns:a16="http://schemas.microsoft.com/office/drawing/2014/main" id="{7FCDBCAC-5714-5506-2739-CF47A4C52BEC}"/>
              </a:ext>
            </a:extLst>
          </p:cNvPr>
          <p:cNvSpPr txBox="1"/>
          <p:nvPr/>
        </p:nvSpPr>
        <p:spPr>
          <a:xfrm>
            <a:off x="1693333" y="3307446"/>
            <a:ext cx="8974667" cy="923330"/>
          </a:xfrm>
          <a:prstGeom prst="rect">
            <a:avLst/>
          </a:prstGeom>
          <a:noFill/>
        </p:spPr>
        <p:txBody>
          <a:bodyPr wrap="square">
            <a:spAutoFit/>
          </a:bodyPr>
          <a:lstStyle/>
          <a:p>
            <a:r>
              <a:rPr lang="vi-VN" sz="1800" b="1" i="0" u="none" strike="noStrike" dirty="0">
                <a:effectLst/>
              </a:rPr>
              <a:t>Bước 2: Gửi </a:t>
            </a:r>
            <a:r>
              <a:rPr lang="vi-VN" sz="1800" b="1" i="0" u="none" strike="noStrike" dirty="0" err="1">
                <a:effectLst/>
              </a:rPr>
              <a:t>photon</a:t>
            </a:r>
            <a:r>
              <a:rPr lang="vi-VN" sz="1800" b="1" i="0" u="none" strike="noStrike" dirty="0">
                <a:effectLst/>
              </a:rPr>
              <a:t> lượng tử:</a:t>
            </a:r>
            <a:r>
              <a:rPr lang="vi-VN" sz="1800" b="0" i="0" u="none" strike="noStrike" dirty="0">
                <a:effectLst/>
              </a:rPr>
              <a:t> </a:t>
            </a:r>
            <a:r>
              <a:rPr lang="vi-VN" sz="1800" b="0" i="0" u="none" strike="noStrike" dirty="0" err="1">
                <a:effectLst/>
              </a:rPr>
              <a:t>Alice</a:t>
            </a:r>
            <a:r>
              <a:rPr lang="vi-VN" sz="1800" b="0" i="0" u="none" strike="noStrike" dirty="0">
                <a:effectLst/>
              </a:rPr>
              <a:t> truyền phát trực tiếp các hạt </a:t>
            </a:r>
            <a:r>
              <a:rPr lang="vi-VN" sz="1800" b="0" i="0" u="none" strike="noStrike" dirty="0" err="1">
                <a:effectLst/>
              </a:rPr>
              <a:t>photon</a:t>
            </a:r>
            <a:r>
              <a:rPr lang="vi-VN" sz="1800" b="0" i="0" u="none" strike="noStrike" dirty="0">
                <a:effectLst/>
              </a:rPr>
              <a:t> này đến </a:t>
            </a:r>
            <a:r>
              <a:rPr lang="vi-VN" sz="1800" b="0" i="0" u="none" strike="noStrike" dirty="0" err="1">
                <a:effectLst/>
              </a:rPr>
              <a:t>Bob</a:t>
            </a:r>
            <a:r>
              <a:rPr lang="vi-VN" sz="1800" b="0" i="0" u="none" strike="noStrike" dirty="0">
                <a:effectLst/>
              </a:rPr>
              <a:t> thông qua kênh lượng tử chuyên dụng (như lõi cáp quang hoặc kết nối </a:t>
            </a:r>
            <a:r>
              <a:rPr lang="vi-VN" sz="1800" b="0" i="0" u="none" strike="noStrike" dirty="0" err="1">
                <a:effectLst/>
              </a:rPr>
              <a:t>laser</a:t>
            </a:r>
            <a:r>
              <a:rPr lang="vi-VN" sz="1800" b="0" i="0" u="none" strike="noStrike" dirty="0">
                <a:effectLst/>
              </a:rPr>
              <a:t> tầm nhìn thẳng).</a:t>
            </a:r>
            <a:endParaRPr lang="vi-VN" dirty="0"/>
          </a:p>
        </p:txBody>
      </p:sp>
      <p:sp>
        <p:nvSpPr>
          <p:cNvPr id="12" name="Hộp Văn bản 11">
            <a:extLst>
              <a:ext uri="{FF2B5EF4-FFF2-40B4-BE49-F238E27FC236}">
                <a16:creationId xmlns:a16="http://schemas.microsoft.com/office/drawing/2014/main" id="{1B1BCA2C-E8B7-0B9A-EF96-E953570BA611}"/>
              </a:ext>
            </a:extLst>
          </p:cNvPr>
          <p:cNvSpPr txBox="1"/>
          <p:nvPr/>
        </p:nvSpPr>
        <p:spPr>
          <a:xfrm>
            <a:off x="1693333" y="4528497"/>
            <a:ext cx="8974666" cy="646331"/>
          </a:xfrm>
          <a:prstGeom prst="rect">
            <a:avLst/>
          </a:prstGeom>
          <a:noFill/>
        </p:spPr>
        <p:txBody>
          <a:bodyPr wrap="square">
            <a:spAutoFit/>
          </a:bodyPr>
          <a:lstStyle/>
          <a:p>
            <a:r>
              <a:rPr lang="vi-VN" sz="1800" b="1" i="0" u="none" strike="noStrike" dirty="0">
                <a:effectLst/>
              </a:rPr>
              <a:t>Bước 3: Đo lường trạng thái (</a:t>
            </a:r>
            <a:r>
              <a:rPr lang="vi-VN" sz="1800" b="1" i="0" u="none" strike="noStrike" dirty="0" err="1">
                <a:effectLst/>
              </a:rPr>
              <a:t>Bob</a:t>
            </a:r>
            <a:r>
              <a:rPr lang="vi-VN" sz="1800" b="1" i="0" u="none" strike="noStrike" dirty="0">
                <a:effectLst/>
              </a:rPr>
              <a:t>):</a:t>
            </a:r>
            <a:r>
              <a:rPr lang="vi-VN" sz="1800" b="0" i="0" u="none" strike="noStrike" dirty="0">
                <a:effectLst/>
              </a:rPr>
              <a:t> </a:t>
            </a:r>
            <a:r>
              <a:rPr lang="vi-VN" sz="1800" b="0" i="0" u="none" strike="noStrike" dirty="0" err="1">
                <a:effectLst/>
              </a:rPr>
              <a:t>Bob</a:t>
            </a:r>
            <a:r>
              <a:rPr lang="vi-VN" sz="1800" b="0" i="0" u="none" strike="noStrike" dirty="0">
                <a:effectLst/>
              </a:rPr>
              <a:t> tiếp nhận từng </a:t>
            </a:r>
            <a:r>
              <a:rPr lang="vi-VN" sz="1800" b="0" i="0" u="none" strike="noStrike" dirty="0" err="1">
                <a:effectLst/>
              </a:rPr>
              <a:t>photon</a:t>
            </a:r>
            <a:r>
              <a:rPr lang="vi-VN" sz="1800" b="0" i="0" u="none" strike="noStrike" dirty="0">
                <a:effectLst/>
              </a:rPr>
              <a:t>, tự chọn ngẫu nhiên các cơ sở đo (+ hoặc ×) để ghi lại các giá trị </a:t>
            </a:r>
            <a:r>
              <a:rPr lang="vi-VN" sz="1800" b="0" i="0" u="none" strike="noStrike" dirty="0" err="1">
                <a:effectLst/>
              </a:rPr>
              <a:t>bit</a:t>
            </a:r>
            <a:r>
              <a:rPr lang="vi-VN" sz="1800" b="0" i="0" u="none" strike="noStrike" dirty="0">
                <a:effectLst/>
              </a:rPr>
              <a:t> lượng tử của mình một cách độc lập.</a:t>
            </a:r>
            <a:endParaRPr lang="vi-VN" dirty="0"/>
          </a:p>
        </p:txBody>
      </p:sp>
    </p:spTree>
    <p:extLst>
      <p:ext uri="{BB962C8B-B14F-4D97-AF65-F5344CB8AC3E}">
        <p14:creationId xmlns:p14="http://schemas.microsoft.com/office/powerpoint/2010/main" val="4289520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856EEDB-5490-F658-3DA1-6BF65BF8908D}"/>
              </a:ext>
            </a:extLst>
          </p:cNvPr>
          <p:cNvSpPr>
            <a:spLocks noGrp="1"/>
          </p:cNvSpPr>
          <p:nvPr>
            <p:ph type="title"/>
          </p:nvPr>
        </p:nvSpPr>
        <p:spPr/>
        <p:txBody>
          <a:bodyPr>
            <a:normAutofit/>
          </a:bodyPr>
          <a:lstStyle/>
          <a:p>
            <a:r>
              <a:rPr lang="vi-VN" sz="3200" b="1" dirty="0">
                <a:latin typeface="+mn-lt"/>
              </a:rPr>
              <a:t>Quy Trình BB84: Tạo Khóa Bí Mật</a:t>
            </a:r>
            <a:endParaRPr lang="vi-VN" sz="3200" dirty="0">
              <a:latin typeface="+mn-lt"/>
            </a:endParaRPr>
          </a:p>
        </p:txBody>
      </p:sp>
      <p:pic>
        <p:nvPicPr>
          <p:cNvPr id="5" name="Chỗ dành sẵn cho Nội dung 4" descr="image.png">
            <a:extLst>
              <a:ext uri="{FF2B5EF4-FFF2-40B4-BE49-F238E27FC236}">
                <a16:creationId xmlns:a16="http://schemas.microsoft.com/office/drawing/2014/main" id="{6BE914B1-81FB-3B04-09B7-CCFEA9FDAE27}"/>
              </a:ext>
            </a:extLst>
          </p:cNvPr>
          <p:cNvPicPr>
            <a:picLocks noGrp="1" noChangeAspect="1"/>
          </p:cNvPicPr>
          <p:nvPr>
            <p:ph idx="1"/>
          </p:nvPr>
        </p:nvPicPr>
        <p:blipFill>
          <a:blip r:embed="rId2"/>
          <a:stretch>
            <a:fillRect/>
          </a:stretch>
        </p:blipFill>
        <p:spPr>
          <a:xfrm>
            <a:off x="1053042" y="2043906"/>
            <a:ext cx="247650" cy="257175"/>
          </a:xfrm>
          <a:prstGeom prst="rect">
            <a:avLst/>
          </a:prstGeom>
        </p:spPr>
      </p:pic>
      <p:pic>
        <p:nvPicPr>
          <p:cNvPr id="6" name="Hình ảnh 5" descr="image.png">
            <a:extLst>
              <a:ext uri="{FF2B5EF4-FFF2-40B4-BE49-F238E27FC236}">
                <a16:creationId xmlns:a16="http://schemas.microsoft.com/office/drawing/2014/main" id="{ED7926B6-E3C4-88BC-CF69-7CBE59A703E9}"/>
              </a:ext>
            </a:extLst>
          </p:cNvPr>
          <p:cNvPicPr>
            <a:picLocks noChangeAspect="1"/>
          </p:cNvPicPr>
          <p:nvPr/>
        </p:nvPicPr>
        <p:blipFill>
          <a:blip r:embed="rId3"/>
          <a:stretch>
            <a:fillRect/>
          </a:stretch>
        </p:blipFill>
        <p:spPr>
          <a:xfrm>
            <a:off x="1053042" y="3437467"/>
            <a:ext cx="247650" cy="257175"/>
          </a:xfrm>
          <a:prstGeom prst="rect">
            <a:avLst/>
          </a:prstGeom>
        </p:spPr>
      </p:pic>
      <p:pic>
        <p:nvPicPr>
          <p:cNvPr id="7" name="Hình ảnh 6" descr="image.png">
            <a:extLst>
              <a:ext uri="{FF2B5EF4-FFF2-40B4-BE49-F238E27FC236}">
                <a16:creationId xmlns:a16="http://schemas.microsoft.com/office/drawing/2014/main" id="{6EEA915B-CA1F-44F9-E49E-0B4793546F3E}"/>
              </a:ext>
            </a:extLst>
          </p:cNvPr>
          <p:cNvPicPr>
            <a:picLocks noChangeAspect="1"/>
          </p:cNvPicPr>
          <p:nvPr/>
        </p:nvPicPr>
        <p:blipFill>
          <a:blip r:embed="rId4"/>
          <a:stretch>
            <a:fillRect/>
          </a:stretch>
        </p:blipFill>
        <p:spPr>
          <a:xfrm>
            <a:off x="1053042" y="4831028"/>
            <a:ext cx="247650" cy="257175"/>
          </a:xfrm>
          <a:prstGeom prst="rect">
            <a:avLst/>
          </a:prstGeom>
        </p:spPr>
      </p:pic>
      <p:sp>
        <p:nvSpPr>
          <p:cNvPr id="9" name="Hộp Văn bản 8">
            <a:extLst>
              <a:ext uri="{FF2B5EF4-FFF2-40B4-BE49-F238E27FC236}">
                <a16:creationId xmlns:a16="http://schemas.microsoft.com/office/drawing/2014/main" id="{7B966C28-C786-5AA9-417C-9099D516876D}"/>
              </a:ext>
            </a:extLst>
          </p:cNvPr>
          <p:cNvSpPr txBox="1"/>
          <p:nvPr/>
        </p:nvSpPr>
        <p:spPr>
          <a:xfrm>
            <a:off x="1659468" y="1839416"/>
            <a:ext cx="9479490" cy="923330"/>
          </a:xfrm>
          <a:prstGeom prst="rect">
            <a:avLst/>
          </a:prstGeom>
          <a:noFill/>
        </p:spPr>
        <p:txBody>
          <a:bodyPr wrap="square">
            <a:spAutoFit/>
          </a:bodyPr>
          <a:lstStyle/>
          <a:p>
            <a:r>
              <a:rPr lang="vi-VN" sz="1800" b="1" i="0" u="none" strike="noStrike" dirty="0">
                <a:effectLst/>
              </a:rPr>
              <a:t>Bước 4: Sàng lọc khóa (</a:t>
            </a:r>
            <a:r>
              <a:rPr lang="vi-VN" sz="1800" b="1" i="0" u="none" strike="noStrike" dirty="0" err="1">
                <a:effectLst/>
              </a:rPr>
              <a:t>Sifting</a:t>
            </a:r>
            <a:r>
              <a:rPr lang="vi-VN" sz="1800" b="1" i="0" u="none" strike="noStrike" dirty="0">
                <a:effectLst/>
              </a:rPr>
              <a:t>):</a:t>
            </a:r>
            <a:r>
              <a:rPr lang="vi-VN" sz="1800" b="0" i="0" u="none" strike="noStrike" dirty="0">
                <a:effectLst/>
              </a:rPr>
              <a:t> </a:t>
            </a:r>
            <a:r>
              <a:rPr lang="vi-VN" sz="1800" b="0" i="0" u="none" strike="noStrike" dirty="0" err="1">
                <a:effectLst/>
              </a:rPr>
              <a:t>Alice</a:t>
            </a:r>
            <a:r>
              <a:rPr lang="vi-VN" sz="1800" b="0" i="0" u="none" strike="noStrike" dirty="0">
                <a:effectLst/>
              </a:rPr>
              <a:t> và </a:t>
            </a:r>
            <a:r>
              <a:rPr lang="vi-VN" sz="1800" b="0" i="0" u="none" strike="noStrike" dirty="0" err="1">
                <a:effectLst/>
              </a:rPr>
              <a:t>Bob</a:t>
            </a:r>
            <a:r>
              <a:rPr lang="vi-VN" sz="1800" b="0" i="0" u="none" strike="noStrike" dirty="0">
                <a:effectLst/>
              </a:rPr>
              <a:t> công khai cơ sở đo đạc qua kênh thông tin truyền thống. Họ loại bỏ toàn bộ các phép đo không trùng cơ sở, giữ lại chuỗi "khóa sàng lọc".</a:t>
            </a:r>
            <a:endParaRPr lang="vi-VN" dirty="0"/>
          </a:p>
        </p:txBody>
      </p:sp>
      <p:sp>
        <p:nvSpPr>
          <p:cNvPr id="11" name="Hộp Văn bản 10">
            <a:extLst>
              <a:ext uri="{FF2B5EF4-FFF2-40B4-BE49-F238E27FC236}">
                <a16:creationId xmlns:a16="http://schemas.microsoft.com/office/drawing/2014/main" id="{3E81C069-D2A5-9C3A-8277-0583E6319A1C}"/>
              </a:ext>
            </a:extLst>
          </p:cNvPr>
          <p:cNvSpPr txBox="1"/>
          <p:nvPr/>
        </p:nvSpPr>
        <p:spPr>
          <a:xfrm>
            <a:off x="1659469" y="3104389"/>
            <a:ext cx="9479489" cy="923330"/>
          </a:xfrm>
          <a:prstGeom prst="rect">
            <a:avLst/>
          </a:prstGeom>
          <a:noFill/>
        </p:spPr>
        <p:txBody>
          <a:bodyPr wrap="square">
            <a:spAutoFit/>
          </a:bodyPr>
          <a:lstStyle/>
          <a:p>
            <a:r>
              <a:rPr lang="vi-VN" sz="1800" b="1" i="0" u="none" strike="noStrike" dirty="0">
                <a:effectLst/>
              </a:rPr>
              <a:t>Bước 5: Phát hiện nghe lén:</a:t>
            </a:r>
            <a:r>
              <a:rPr lang="vi-VN" sz="1800" b="0" i="0" u="none" strike="noStrike" dirty="0">
                <a:effectLst/>
              </a:rPr>
              <a:t> Hai bên so sánh một phần nhỏ của chuỗi khóa để tính tỷ lệ lỗi lượng tử (QBER). Nếu tỉ lệ vượt ngưỡng an toàn (ví dụ &gt;11%), phiên truyền bị hủy ngay lập tức.</a:t>
            </a:r>
            <a:endParaRPr lang="vi-VN" dirty="0"/>
          </a:p>
        </p:txBody>
      </p:sp>
      <p:sp>
        <p:nvSpPr>
          <p:cNvPr id="13" name="Hộp Văn bản 12">
            <a:extLst>
              <a:ext uri="{FF2B5EF4-FFF2-40B4-BE49-F238E27FC236}">
                <a16:creationId xmlns:a16="http://schemas.microsoft.com/office/drawing/2014/main" id="{2559FBEA-FB3E-B5F3-F0F9-43380CDB7AD6}"/>
              </a:ext>
            </a:extLst>
          </p:cNvPr>
          <p:cNvSpPr txBox="1"/>
          <p:nvPr/>
        </p:nvSpPr>
        <p:spPr>
          <a:xfrm>
            <a:off x="1659470" y="4575737"/>
            <a:ext cx="9479488" cy="646331"/>
          </a:xfrm>
          <a:prstGeom prst="rect">
            <a:avLst/>
          </a:prstGeom>
          <a:noFill/>
        </p:spPr>
        <p:txBody>
          <a:bodyPr wrap="square">
            <a:spAutoFit/>
          </a:bodyPr>
          <a:lstStyle/>
          <a:p>
            <a:r>
              <a:rPr lang="vi-VN" sz="1800" b="1" i="0" u="none" strike="noStrike" dirty="0">
                <a:effectLst/>
              </a:rPr>
              <a:t>Bước 6: Chắt lọc khóa cuối cùng:</a:t>
            </a:r>
            <a:r>
              <a:rPr lang="vi-VN" sz="1800" b="0" i="0" u="none" strike="noStrike" dirty="0">
                <a:effectLst/>
              </a:rPr>
              <a:t> Nếu an toàn, các thuật toán sửa lỗi và khuếch đại tính bảo mật được thực thi, tạo nên một chuỗi khóa bí mật chung tuyệt đối bí mật.</a:t>
            </a:r>
            <a:endParaRPr lang="vi-VN" dirty="0"/>
          </a:p>
        </p:txBody>
      </p:sp>
    </p:spTree>
    <p:extLst>
      <p:ext uri="{BB962C8B-B14F-4D97-AF65-F5344CB8AC3E}">
        <p14:creationId xmlns:p14="http://schemas.microsoft.com/office/powerpoint/2010/main" val="2972071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FC4E9ED-0530-2D9C-B6F0-F4A21D19968B}"/>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AE53A6A0-89AB-F2BF-BE09-95115F1FDA09}"/>
              </a:ext>
            </a:extLst>
          </p:cNvPr>
          <p:cNvSpPr>
            <a:spLocks noGrp="1"/>
          </p:cNvSpPr>
          <p:nvPr>
            <p:ph idx="1"/>
          </p:nvPr>
        </p:nvSpPr>
        <p:spPr/>
        <p:txBody>
          <a:bodyPr/>
          <a:lstStyle/>
          <a:p>
            <a:endParaRPr lang="vi-VN"/>
          </a:p>
        </p:txBody>
      </p:sp>
      <p:pic>
        <p:nvPicPr>
          <p:cNvPr id="4" name="Hình ảnh 3" descr="image.png">
            <a:extLst>
              <a:ext uri="{FF2B5EF4-FFF2-40B4-BE49-F238E27FC236}">
                <a16:creationId xmlns:a16="http://schemas.microsoft.com/office/drawing/2014/main" id="{A836404C-12B2-E156-97FD-344FD3DABBC5}"/>
              </a:ext>
            </a:extLst>
          </p:cNvPr>
          <p:cNvPicPr>
            <a:picLocks noChangeAspect="1"/>
          </p:cNvPicPr>
          <p:nvPr/>
        </p:nvPicPr>
        <p:blipFill>
          <a:blip r:embed="rId2"/>
          <a:stretch>
            <a:fillRect/>
          </a:stretch>
        </p:blipFill>
        <p:spPr>
          <a:xfrm>
            <a:off x="838200" y="365125"/>
            <a:ext cx="10515600" cy="5811838"/>
          </a:xfrm>
          <a:prstGeom prst="rect">
            <a:avLst/>
          </a:prstGeom>
        </p:spPr>
      </p:pic>
      <p:sp>
        <p:nvSpPr>
          <p:cNvPr id="6" name="Hộp Văn bản 5">
            <a:extLst>
              <a:ext uri="{FF2B5EF4-FFF2-40B4-BE49-F238E27FC236}">
                <a16:creationId xmlns:a16="http://schemas.microsoft.com/office/drawing/2014/main" id="{8BD122BC-1477-E869-6217-B6062E276D9C}"/>
              </a:ext>
            </a:extLst>
          </p:cNvPr>
          <p:cNvSpPr txBox="1"/>
          <p:nvPr/>
        </p:nvSpPr>
        <p:spPr>
          <a:xfrm>
            <a:off x="1045633" y="1690688"/>
            <a:ext cx="10100734" cy="1754326"/>
          </a:xfrm>
          <a:prstGeom prst="rect">
            <a:avLst/>
          </a:prstGeom>
          <a:noFill/>
        </p:spPr>
        <p:txBody>
          <a:bodyPr wrap="square">
            <a:spAutoFit/>
          </a:bodyPr>
          <a:lstStyle/>
          <a:p>
            <a:pPr algn="ctr"/>
            <a:r>
              <a:rPr lang="vi-VN" sz="3600" b="1" i="0" u="none" strike="noStrike" dirty="0">
                <a:solidFill>
                  <a:srgbClr val="FFFFFF"/>
                </a:solidFill>
                <a:effectLst/>
              </a:rPr>
              <a:t>CHƯƠNG 3</a:t>
            </a:r>
          </a:p>
          <a:p>
            <a:pPr algn="ctr"/>
            <a:br>
              <a:rPr lang="vi-VN" sz="3600" b="0" i="0" u="none" strike="noStrike" dirty="0">
                <a:solidFill>
                  <a:srgbClr val="000000"/>
                </a:solidFill>
                <a:effectLst/>
              </a:rPr>
            </a:br>
            <a:r>
              <a:rPr lang="vi-VN" sz="3600" b="1" i="0" u="none" strike="noStrike" dirty="0">
                <a:solidFill>
                  <a:srgbClr val="FFFFFF"/>
                </a:solidFill>
                <a:effectLst/>
              </a:rPr>
              <a:t>ĐIỀU KIỆN XÂY DỰNG HỆ THỐNG</a:t>
            </a:r>
            <a:endParaRPr lang="vi-VN" sz="3600" dirty="0"/>
          </a:p>
        </p:txBody>
      </p:sp>
      <p:sp>
        <p:nvSpPr>
          <p:cNvPr id="8" name="Hộp Văn bản 7">
            <a:extLst>
              <a:ext uri="{FF2B5EF4-FFF2-40B4-BE49-F238E27FC236}">
                <a16:creationId xmlns:a16="http://schemas.microsoft.com/office/drawing/2014/main" id="{45E79D63-0B88-0508-7FFC-1259EC9C149E}"/>
              </a:ext>
            </a:extLst>
          </p:cNvPr>
          <p:cNvSpPr txBox="1"/>
          <p:nvPr/>
        </p:nvSpPr>
        <p:spPr>
          <a:xfrm>
            <a:off x="1261533" y="3600675"/>
            <a:ext cx="9685867" cy="923330"/>
          </a:xfrm>
          <a:prstGeom prst="rect">
            <a:avLst/>
          </a:prstGeom>
          <a:noFill/>
        </p:spPr>
        <p:txBody>
          <a:bodyPr wrap="square">
            <a:spAutoFit/>
          </a:bodyPr>
          <a:lstStyle/>
          <a:p>
            <a:pPr algn="ctr" rtl="0">
              <a:buNone/>
            </a:pPr>
            <a:r>
              <a:rPr lang="vi-VN" sz="1800" b="0" i="0" u="none" strike="noStrike" dirty="0">
                <a:solidFill>
                  <a:schemeClr val="bg1"/>
                </a:solidFill>
                <a:effectLst/>
              </a:rPr>
              <a:t>( Các yêu cầu thực tiễn về công nghệ phần cứng, hạ tầng mạng viễn thông và bảo mật </a:t>
            </a:r>
            <a:r>
              <a:rPr lang="vi-VN" sz="1800" b="0" i="0" u="none" strike="noStrike" dirty="0">
                <a:solidFill>
                  <a:srgbClr val="94A3B8"/>
                </a:solidFill>
                <a:effectLst/>
              </a:rPr>
              <a:t>)</a:t>
            </a:r>
            <a:endParaRPr lang="vi-VN" b="0" dirty="0">
              <a:effectLst/>
            </a:endParaRPr>
          </a:p>
          <a:p>
            <a:pPr>
              <a:buNone/>
            </a:pPr>
            <a:br>
              <a:rPr lang="vi-VN" dirty="0"/>
            </a:br>
            <a:endParaRPr lang="vi-VN" dirty="0"/>
          </a:p>
        </p:txBody>
      </p:sp>
    </p:spTree>
    <p:extLst>
      <p:ext uri="{BB962C8B-B14F-4D97-AF65-F5344CB8AC3E}">
        <p14:creationId xmlns:p14="http://schemas.microsoft.com/office/powerpoint/2010/main" val="479266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95A6E6A-72E8-7149-CC96-58649D65E8DF}"/>
              </a:ext>
            </a:extLst>
          </p:cNvPr>
          <p:cNvSpPr>
            <a:spLocks noGrp="1"/>
          </p:cNvSpPr>
          <p:nvPr>
            <p:ph type="title"/>
          </p:nvPr>
        </p:nvSpPr>
        <p:spPr/>
        <p:txBody>
          <a:bodyPr>
            <a:normAutofit/>
          </a:bodyPr>
          <a:lstStyle/>
          <a:p>
            <a:r>
              <a:rPr lang="vi-VN" sz="3600" b="1" dirty="0">
                <a:latin typeface="+mn-lt"/>
              </a:rPr>
              <a:t>Yêu Cầu Thiết Bị Phần Cứng Công Nghệ</a:t>
            </a:r>
            <a:br>
              <a:rPr lang="vi-VN" dirty="0"/>
            </a:br>
            <a:endParaRPr lang="vi-VN" dirty="0"/>
          </a:p>
        </p:txBody>
      </p:sp>
      <p:sp>
        <p:nvSpPr>
          <p:cNvPr id="3" name="Chỗ dành sẵn cho Nội dung 2">
            <a:extLst>
              <a:ext uri="{FF2B5EF4-FFF2-40B4-BE49-F238E27FC236}">
                <a16:creationId xmlns:a16="http://schemas.microsoft.com/office/drawing/2014/main" id="{EA30534E-6AB8-F861-07DE-93BB103BA959}"/>
              </a:ext>
            </a:extLst>
          </p:cNvPr>
          <p:cNvSpPr>
            <a:spLocks noGrp="1"/>
          </p:cNvSpPr>
          <p:nvPr>
            <p:ph idx="1"/>
          </p:nvPr>
        </p:nvSpPr>
        <p:spPr>
          <a:xfrm>
            <a:off x="1172633" y="1403151"/>
            <a:ext cx="5918199" cy="983721"/>
          </a:xfrm>
        </p:spPr>
        <p:txBody>
          <a:bodyPr>
            <a:normAutofit fontScale="92500" lnSpcReduction="20000"/>
          </a:bodyPr>
          <a:lstStyle/>
          <a:p>
            <a:pPr marL="0" indent="0">
              <a:buNone/>
            </a:pPr>
            <a:r>
              <a:rPr lang="vi-VN" sz="1900" dirty="0">
                <a:latin typeface="Plus Jakarta Sans"/>
              </a:rPr>
              <a:t>Để vận hành một hệ thống phân phối khóa lượng tử (QKD) trong thế giới thực, hạ tầng vật lý phải đáp ứng các tiêu chuẩn kỹ thuật cực kỳ tinh vi:</a:t>
            </a:r>
            <a:br>
              <a:rPr lang="vi-VN" dirty="0"/>
            </a:br>
            <a:endParaRPr lang="vi-VN" dirty="0"/>
          </a:p>
        </p:txBody>
      </p:sp>
      <p:pic>
        <p:nvPicPr>
          <p:cNvPr id="4" name="Hình ảnh 3" descr="image.png">
            <a:extLst>
              <a:ext uri="{FF2B5EF4-FFF2-40B4-BE49-F238E27FC236}">
                <a16:creationId xmlns:a16="http://schemas.microsoft.com/office/drawing/2014/main" id="{D8DE9DBF-9C5F-0FE3-41B8-C7A5C62576E3}"/>
              </a:ext>
            </a:extLst>
          </p:cNvPr>
          <p:cNvPicPr>
            <a:picLocks noChangeAspect="1"/>
          </p:cNvPicPr>
          <p:nvPr/>
        </p:nvPicPr>
        <p:blipFill>
          <a:blip r:embed="rId2"/>
          <a:stretch>
            <a:fillRect/>
          </a:stretch>
        </p:blipFill>
        <p:spPr>
          <a:xfrm>
            <a:off x="647700" y="3427414"/>
            <a:ext cx="190500" cy="190500"/>
          </a:xfrm>
          <a:prstGeom prst="rect">
            <a:avLst/>
          </a:prstGeom>
        </p:spPr>
      </p:pic>
      <p:pic>
        <p:nvPicPr>
          <p:cNvPr id="5" name="Hình ảnh 4" descr="image.png">
            <a:extLst>
              <a:ext uri="{FF2B5EF4-FFF2-40B4-BE49-F238E27FC236}">
                <a16:creationId xmlns:a16="http://schemas.microsoft.com/office/drawing/2014/main" id="{DC559EC8-8112-2F4E-DE58-1D9A5F877A92}"/>
              </a:ext>
            </a:extLst>
          </p:cNvPr>
          <p:cNvPicPr>
            <a:picLocks noChangeAspect="1"/>
          </p:cNvPicPr>
          <p:nvPr/>
        </p:nvPicPr>
        <p:blipFill>
          <a:blip r:embed="rId2"/>
          <a:stretch>
            <a:fillRect/>
          </a:stretch>
        </p:blipFill>
        <p:spPr>
          <a:xfrm>
            <a:off x="637117" y="4527551"/>
            <a:ext cx="190500" cy="190500"/>
          </a:xfrm>
          <a:prstGeom prst="rect">
            <a:avLst/>
          </a:prstGeom>
        </p:spPr>
      </p:pic>
      <p:pic>
        <p:nvPicPr>
          <p:cNvPr id="6" name="Hình ảnh 5" descr="image.png">
            <a:extLst>
              <a:ext uri="{FF2B5EF4-FFF2-40B4-BE49-F238E27FC236}">
                <a16:creationId xmlns:a16="http://schemas.microsoft.com/office/drawing/2014/main" id="{76032A8C-14E8-DE1E-8B16-278325177C09}"/>
              </a:ext>
            </a:extLst>
          </p:cNvPr>
          <p:cNvPicPr>
            <a:picLocks noChangeAspect="1"/>
          </p:cNvPicPr>
          <p:nvPr/>
        </p:nvPicPr>
        <p:blipFill>
          <a:blip r:embed="rId2"/>
          <a:stretch>
            <a:fillRect/>
          </a:stretch>
        </p:blipFill>
        <p:spPr>
          <a:xfrm>
            <a:off x="660400" y="5722938"/>
            <a:ext cx="190500" cy="190500"/>
          </a:xfrm>
          <a:prstGeom prst="rect">
            <a:avLst/>
          </a:prstGeom>
        </p:spPr>
      </p:pic>
      <p:sp>
        <p:nvSpPr>
          <p:cNvPr id="8" name="Hộp Văn bản 7">
            <a:extLst>
              <a:ext uri="{FF2B5EF4-FFF2-40B4-BE49-F238E27FC236}">
                <a16:creationId xmlns:a16="http://schemas.microsoft.com/office/drawing/2014/main" id="{791A921D-F04C-A529-639E-BBB38A3F3682}"/>
              </a:ext>
            </a:extLst>
          </p:cNvPr>
          <p:cNvSpPr txBox="1"/>
          <p:nvPr/>
        </p:nvSpPr>
        <p:spPr>
          <a:xfrm>
            <a:off x="1083733" y="3083057"/>
            <a:ext cx="6096000" cy="923330"/>
          </a:xfrm>
          <a:prstGeom prst="rect">
            <a:avLst/>
          </a:prstGeom>
          <a:noFill/>
        </p:spPr>
        <p:txBody>
          <a:bodyPr wrap="square">
            <a:spAutoFit/>
          </a:bodyPr>
          <a:lstStyle/>
          <a:p>
            <a:r>
              <a:rPr lang="vi-VN" sz="1800" b="1" i="0" u="none" strike="noStrike" dirty="0">
                <a:solidFill>
                  <a:srgbClr val="0F172A"/>
                </a:solidFill>
                <a:effectLst/>
                <a:latin typeface="Plus Jakarta Sans"/>
              </a:rPr>
              <a:t>Nguồn phát </a:t>
            </a:r>
            <a:r>
              <a:rPr lang="vi-VN" sz="1800" b="1" i="0" u="none" strike="noStrike" dirty="0" err="1">
                <a:solidFill>
                  <a:srgbClr val="0F172A"/>
                </a:solidFill>
                <a:effectLst/>
                <a:latin typeface="Plus Jakarta Sans"/>
              </a:rPr>
              <a:t>Photon</a:t>
            </a:r>
            <a:r>
              <a:rPr lang="vi-VN" sz="1800" b="1" i="0" u="none" strike="noStrike" dirty="0">
                <a:solidFill>
                  <a:srgbClr val="0F172A"/>
                </a:solidFill>
                <a:effectLst/>
                <a:latin typeface="Plus Jakarta Sans"/>
              </a:rPr>
              <a:t> đơn:</a:t>
            </a:r>
            <a:r>
              <a:rPr lang="vi-VN" sz="1800" b="0" i="0" u="none" strike="noStrike" dirty="0">
                <a:solidFill>
                  <a:srgbClr val="334155"/>
                </a:solidFill>
                <a:effectLst/>
                <a:latin typeface="Plus Jakarta Sans"/>
              </a:rPr>
              <a:t> Phải phát chính xác từng hạt </a:t>
            </a:r>
            <a:r>
              <a:rPr lang="vi-VN" sz="1800" b="0" i="0" u="none" strike="noStrike" dirty="0" err="1">
                <a:solidFill>
                  <a:srgbClr val="334155"/>
                </a:solidFill>
                <a:effectLst/>
                <a:latin typeface="Plus Jakarta Sans"/>
              </a:rPr>
              <a:t>photon</a:t>
            </a:r>
            <a:r>
              <a:rPr lang="vi-VN" sz="1800" b="0" i="0" u="none" strike="noStrike" dirty="0">
                <a:solidFill>
                  <a:srgbClr val="334155"/>
                </a:solidFill>
                <a:effectLst/>
                <a:latin typeface="Plus Jakarta Sans"/>
              </a:rPr>
              <a:t> riêng lẻ với tần suất cao, triệt tiêu tối đa hiện tượng phát chùm hạt (gây lỗ hổng bảo mật).</a:t>
            </a:r>
            <a:endParaRPr lang="vi-VN" dirty="0"/>
          </a:p>
        </p:txBody>
      </p:sp>
      <p:sp>
        <p:nvSpPr>
          <p:cNvPr id="10" name="Hộp Văn bản 9">
            <a:extLst>
              <a:ext uri="{FF2B5EF4-FFF2-40B4-BE49-F238E27FC236}">
                <a16:creationId xmlns:a16="http://schemas.microsoft.com/office/drawing/2014/main" id="{53F367C1-9C54-DC85-EE5E-23900EAB81E3}"/>
              </a:ext>
            </a:extLst>
          </p:cNvPr>
          <p:cNvSpPr txBox="1"/>
          <p:nvPr/>
        </p:nvSpPr>
        <p:spPr>
          <a:xfrm>
            <a:off x="1083733" y="4161136"/>
            <a:ext cx="6096000" cy="923330"/>
          </a:xfrm>
          <a:prstGeom prst="rect">
            <a:avLst/>
          </a:prstGeom>
          <a:noFill/>
        </p:spPr>
        <p:txBody>
          <a:bodyPr wrap="square">
            <a:spAutoFit/>
          </a:bodyPr>
          <a:lstStyle/>
          <a:p>
            <a:r>
              <a:rPr lang="vi-VN" sz="1800" b="1" i="0" u="none" strike="noStrike" dirty="0">
                <a:solidFill>
                  <a:srgbClr val="0F172A"/>
                </a:solidFill>
                <a:effectLst/>
                <a:latin typeface="Plus Jakarta Sans"/>
              </a:rPr>
              <a:t>Kênh truyền lượng tử:</a:t>
            </a:r>
            <a:r>
              <a:rPr lang="vi-VN" sz="1800" b="0" i="0" u="none" strike="noStrike" dirty="0">
                <a:solidFill>
                  <a:srgbClr val="334155"/>
                </a:solidFill>
                <a:effectLst/>
                <a:latin typeface="Plus Jakarta Sans"/>
              </a:rPr>
              <a:t> Sử dụng hệ thống cáp quang viễn thông chất lượng cao hoặc truyền qua không gian tự do sử dụng vệ tinh định vị quỹ đạo.</a:t>
            </a:r>
            <a:endParaRPr lang="vi-VN" dirty="0"/>
          </a:p>
        </p:txBody>
      </p:sp>
      <p:sp>
        <p:nvSpPr>
          <p:cNvPr id="12" name="Hộp Văn bản 11">
            <a:extLst>
              <a:ext uri="{FF2B5EF4-FFF2-40B4-BE49-F238E27FC236}">
                <a16:creationId xmlns:a16="http://schemas.microsoft.com/office/drawing/2014/main" id="{666D2F0C-98FE-15E2-1F15-7633A84C7992}"/>
              </a:ext>
            </a:extLst>
          </p:cNvPr>
          <p:cNvSpPr txBox="1"/>
          <p:nvPr/>
        </p:nvSpPr>
        <p:spPr>
          <a:xfrm>
            <a:off x="1083733" y="5356523"/>
            <a:ext cx="6096000" cy="923330"/>
          </a:xfrm>
          <a:prstGeom prst="rect">
            <a:avLst/>
          </a:prstGeom>
          <a:noFill/>
        </p:spPr>
        <p:txBody>
          <a:bodyPr wrap="square">
            <a:spAutoFit/>
          </a:bodyPr>
          <a:lstStyle/>
          <a:p>
            <a:r>
              <a:rPr lang="vi-VN" sz="1800" b="1" i="0" u="none" strike="noStrike" dirty="0">
                <a:solidFill>
                  <a:srgbClr val="0F172A"/>
                </a:solidFill>
                <a:effectLst/>
                <a:latin typeface="Plus Jakarta Sans"/>
              </a:rPr>
              <a:t>Bộ đo nhạy đơn hạt (</a:t>
            </a:r>
            <a:r>
              <a:rPr lang="vi-VN" sz="1800" b="1" i="0" u="none" strike="noStrike" dirty="0" err="1">
                <a:solidFill>
                  <a:srgbClr val="0F172A"/>
                </a:solidFill>
                <a:effectLst/>
                <a:latin typeface="Plus Jakarta Sans"/>
              </a:rPr>
              <a:t>Detector</a:t>
            </a:r>
            <a:r>
              <a:rPr lang="vi-VN" sz="1800" b="1" i="0" u="none" strike="noStrike" dirty="0">
                <a:solidFill>
                  <a:srgbClr val="0F172A"/>
                </a:solidFill>
                <a:effectLst/>
                <a:latin typeface="Plus Jakarta Sans"/>
              </a:rPr>
              <a:t>):</a:t>
            </a:r>
            <a:r>
              <a:rPr lang="vi-VN" sz="1800" b="0" i="0" u="none" strike="noStrike" dirty="0">
                <a:solidFill>
                  <a:srgbClr val="334155"/>
                </a:solidFill>
                <a:effectLst/>
                <a:latin typeface="Plus Jakarta Sans"/>
              </a:rPr>
              <a:t> Thiết bị đầu thu phía </a:t>
            </a:r>
            <a:r>
              <a:rPr lang="vi-VN" sz="1800" b="0" i="0" u="none" strike="noStrike" dirty="0" err="1">
                <a:solidFill>
                  <a:srgbClr val="334155"/>
                </a:solidFill>
                <a:effectLst/>
                <a:latin typeface="Plus Jakarta Sans"/>
              </a:rPr>
              <a:t>Bob</a:t>
            </a:r>
            <a:r>
              <a:rPr lang="vi-VN" sz="1800" b="0" i="0" u="none" strike="noStrike" dirty="0">
                <a:solidFill>
                  <a:srgbClr val="334155"/>
                </a:solidFill>
                <a:effectLst/>
                <a:latin typeface="Plus Jakarta Sans"/>
              </a:rPr>
              <a:t> phải có độ nhạy siêu cao và tỷ lệ nhiễu tối thiểu để bắt và xác định đúng hướng phân cực.</a:t>
            </a:r>
            <a:endParaRPr lang="vi-VN" dirty="0"/>
          </a:p>
        </p:txBody>
      </p:sp>
      <p:pic>
        <p:nvPicPr>
          <p:cNvPr id="13" name="Hình ảnh 12" descr="image.png">
            <a:extLst>
              <a:ext uri="{FF2B5EF4-FFF2-40B4-BE49-F238E27FC236}">
                <a16:creationId xmlns:a16="http://schemas.microsoft.com/office/drawing/2014/main" id="{D249869E-EA90-8A06-84ED-B3A6436BC019}"/>
              </a:ext>
            </a:extLst>
          </p:cNvPr>
          <p:cNvPicPr>
            <a:picLocks noChangeAspect="1"/>
          </p:cNvPicPr>
          <p:nvPr/>
        </p:nvPicPr>
        <p:blipFill>
          <a:blip r:embed="rId3"/>
          <a:stretch>
            <a:fillRect/>
          </a:stretch>
        </p:blipFill>
        <p:spPr>
          <a:xfrm>
            <a:off x="7425266" y="2203748"/>
            <a:ext cx="4591050" cy="3914775"/>
          </a:xfrm>
          <a:prstGeom prst="rect">
            <a:avLst/>
          </a:prstGeom>
        </p:spPr>
      </p:pic>
    </p:spTree>
    <p:extLst>
      <p:ext uri="{BB962C8B-B14F-4D97-AF65-F5344CB8AC3E}">
        <p14:creationId xmlns:p14="http://schemas.microsoft.com/office/powerpoint/2010/main" val="699250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A5E0740-78A8-9B2B-535D-5F81F0F73556}"/>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1174325C-3451-2382-7ACE-D159DF533A6C}"/>
              </a:ext>
            </a:extLst>
          </p:cNvPr>
          <p:cNvSpPr>
            <a:spLocks noGrp="1"/>
          </p:cNvSpPr>
          <p:nvPr>
            <p:ph idx="1"/>
          </p:nvPr>
        </p:nvSpPr>
        <p:spPr/>
        <p:txBody>
          <a:bodyPr/>
          <a:lstStyle/>
          <a:p>
            <a:endParaRPr lang="vi-VN" dirty="0"/>
          </a:p>
        </p:txBody>
      </p:sp>
      <p:pic>
        <p:nvPicPr>
          <p:cNvPr id="5" name="Hình ảnh 4" descr="image.png">
            <a:extLst>
              <a:ext uri="{FF2B5EF4-FFF2-40B4-BE49-F238E27FC236}">
                <a16:creationId xmlns:a16="http://schemas.microsoft.com/office/drawing/2014/main" id="{60369DAE-21BB-6FC1-6B67-3DA2E5A9348C}"/>
              </a:ext>
            </a:extLst>
          </p:cNvPr>
          <p:cNvPicPr>
            <a:picLocks noChangeAspect="1"/>
          </p:cNvPicPr>
          <p:nvPr/>
        </p:nvPicPr>
        <p:blipFill>
          <a:blip r:embed="rId2"/>
          <a:stretch>
            <a:fillRect/>
          </a:stretch>
        </p:blipFill>
        <p:spPr>
          <a:xfrm>
            <a:off x="838200" y="365125"/>
            <a:ext cx="10515600" cy="5811838"/>
          </a:xfrm>
          <a:prstGeom prst="rect">
            <a:avLst/>
          </a:prstGeom>
        </p:spPr>
      </p:pic>
      <p:sp>
        <p:nvSpPr>
          <p:cNvPr id="7" name="Hộp Văn bản 6">
            <a:extLst>
              <a:ext uri="{FF2B5EF4-FFF2-40B4-BE49-F238E27FC236}">
                <a16:creationId xmlns:a16="http://schemas.microsoft.com/office/drawing/2014/main" id="{1E386F04-FA6D-3FF1-2651-9844C5906794}"/>
              </a:ext>
            </a:extLst>
          </p:cNvPr>
          <p:cNvSpPr txBox="1"/>
          <p:nvPr/>
        </p:nvSpPr>
        <p:spPr>
          <a:xfrm>
            <a:off x="1761067" y="843240"/>
            <a:ext cx="9067800" cy="584775"/>
          </a:xfrm>
          <a:prstGeom prst="rect">
            <a:avLst/>
          </a:prstGeom>
          <a:noFill/>
        </p:spPr>
        <p:txBody>
          <a:bodyPr wrap="square">
            <a:spAutoFit/>
          </a:bodyPr>
          <a:lstStyle/>
          <a:p>
            <a:r>
              <a:rPr lang="vi-VN" sz="3200" b="1" i="0" u="none" strike="noStrike" dirty="0">
                <a:solidFill>
                  <a:srgbClr val="FFFFFF"/>
                </a:solidFill>
                <a:effectLst/>
              </a:rPr>
              <a:t>Tỷ Lệ Các Rào Cản Triển Khai QKD</a:t>
            </a:r>
            <a:endParaRPr lang="vi-VN" sz="3200" dirty="0"/>
          </a:p>
        </p:txBody>
      </p:sp>
      <p:pic>
        <p:nvPicPr>
          <p:cNvPr id="8" name="Hình ảnh 7" descr="image.png">
            <a:extLst>
              <a:ext uri="{FF2B5EF4-FFF2-40B4-BE49-F238E27FC236}">
                <a16:creationId xmlns:a16="http://schemas.microsoft.com/office/drawing/2014/main" id="{0B540B36-3073-DAAE-42DF-6DD5D45840A8}"/>
              </a:ext>
            </a:extLst>
          </p:cNvPr>
          <p:cNvPicPr>
            <a:picLocks noChangeAspect="1"/>
          </p:cNvPicPr>
          <p:nvPr/>
        </p:nvPicPr>
        <p:blipFill>
          <a:blip r:embed="rId3"/>
          <a:stretch>
            <a:fillRect/>
          </a:stretch>
        </p:blipFill>
        <p:spPr>
          <a:xfrm>
            <a:off x="1524000" y="1562952"/>
            <a:ext cx="9143999" cy="4315326"/>
          </a:xfrm>
          <a:prstGeom prst="rect">
            <a:avLst/>
          </a:prstGeom>
        </p:spPr>
      </p:pic>
    </p:spTree>
    <p:extLst>
      <p:ext uri="{BB962C8B-B14F-4D97-AF65-F5344CB8AC3E}">
        <p14:creationId xmlns:p14="http://schemas.microsoft.com/office/powerpoint/2010/main" val="1185888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3698DD4-196D-6045-76BB-85D2B3054395}"/>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03FFAAB8-D545-15A3-3462-BED13316D0D7}"/>
              </a:ext>
            </a:extLst>
          </p:cNvPr>
          <p:cNvSpPr>
            <a:spLocks noGrp="1"/>
          </p:cNvSpPr>
          <p:nvPr>
            <p:ph idx="1"/>
          </p:nvPr>
        </p:nvSpPr>
        <p:spPr/>
        <p:txBody>
          <a:bodyPr/>
          <a:lstStyle/>
          <a:p>
            <a:endParaRPr lang="vi-VN"/>
          </a:p>
        </p:txBody>
      </p:sp>
      <p:pic>
        <p:nvPicPr>
          <p:cNvPr id="4" name="Hình ảnh 3" descr="image.png">
            <a:extLst>
              <a:ext uri="{FF2B5EF4-FFF2-40B4-BE49-F238E27FC236}">
                <a16:creationId xmlns:a16="http://schemas.microsoft.com/office/drawing/2014/main" id="{9E75BF70-7C1D-8333-EE94-B8DD630F5074}"/>
              </a:ext>
            </a:extLst>
          </p:cNvPr>
          <p:cNvPicPr>
            <a:picLocks noChangeAspect="1"/>
          </p:cNvPicPr>
          <p:nvPr/>
        </p:nvPicPr>
        <p:blipFill>
          <a:blip r:embed="rId2"/>
          <a:stretch>
            <a:fillRect/>
          </a:stretch>
        </p:blipFill>
        <p:spPr>
          <a:xfrm>
            <a:off x="838200" y="365125"/>
            <a:ext cx="10515600" cy="5811838"/>
          </a:xfrm>
          <a:prstGeom prst="rect">
            <a:avLst/>
          </a:prstGeom>
        </p:spPr>
      </p:pic>
      <p:sp>
        <p:nvSpPr>
          <p:cNvPr id="6" name="Hộp Văn bản 5">
            <a:extLst>
              <a:ext uri="{FF2B5EF4-FFF2-40B4-BE49-F238E27FC236}">
                <a16:creationId xmlns:a16="http://schemas.microsoft.com/office/drawing/2014/main" id="{F2DB7B54-B56B-F4DA-48BE-EF22EC643966}"/>
              </a:ext>
            </a:extLst>
          </p:cNvPr>
          <p:cNvSpPr txBox="1"/>
          <p:nvPr/>
        </p:nvSpPr>
        <p:spPr>
          <a:xfrm>
            <a:off x="1155700" y="1516718"/>
            <a:ext cx="9880600" cy="1754326"/>
          </a:xfrm>
          <a:prstGeom prst="rect">
            <a:avLst/>
          </a:prstGeom>
          <a:noFill/>
        </p:spPr>
        <p:txBody>
          <a:bodyPr wrap="square">
            <a:spAutoFit/>
          </a:bodyPr>
          <a:lstStyle/>
          <a:p>
            <a:pPr algn="ctr"/>
            <a:r>
              <a:rPr lang="vi-VN" sz="3600" b="1" i="0" u="none" strike="noStrike" dirty="0">
                <a:solidFill>
                  <a:srgbClr val="FFFFFF"/>
                </a:solidFill>
                <a:effectLst/>
              </a:rPr>
              <a:t>CHƯƠNG 4</a:t>
            </a:r>
          </a:p>
          <a:p>
            <a:pPr algn="ctr"/>
            <a:br>
              <a:rPr lang="vi-VN" sz="3600" b="0" i="0" u="none" strike="noStrike" dirty="0">
                <a:solidFill>
                  <a:srgbClr val="000000"/>
                </a:solidFill>
                <a:effectLst/>
              </a:rPr>
            </a:br>
            <a:r>
              <a:rPr lang="vi-VN" sz="3600" b="1" i="0" u="none" strike="noStrike" dirty="0">
                <a:solidFill>
                  <a:srgbClr val="FFFFFF"/>
                </a:solidFill>
                <a:effectLst/>
              </a:rPr>
              <a:t>ĐÁNH GIÁ &amp; XU HƯỚNG TƯƠNG LA</a:t>
            </a:r>
            <a:endParaRPr lang="vi-VN" sz="3600" dirty="0"/>
          </a:p>
        </p:txBody>
      </p:sp>
      <p:sp>
        <p:nvSpPr>
          <p:cNvPr id="8" name="Hộp Văn bản 7">
            <a:extLst>
              <a:ext uri="{FF2B5EF4-FFF2-40B4-BE49-F238E27FC236}">
                <a16:creationId xmlns:a16="http://schemas.microsoft.com/office/drawing/2014/main" id="{2770692B-B7D9-123A-4201-D552D9164A57}"/>
              </a:ext>
            </a:extLst>
          </p:cNvPr>
          <p:cNvSpPr txBox="1"/>
          <p:nvPr/>
        </p:nvSpPr>
        <p:spPr>
          <a:xfrm>
            <a:off x="1405467" y="3746905"/>
            <a:ext cx="9381065" cy="369332"/>
          </a:xfrm>
          <a:prstGeom prst="rect">
            <a:avLst/>
          </a:prstGeom>
          <a:noFill/>
        </p:spPr>
        <p:txBody>
          <a:bodyPr wrap="square">
            <a:spAutoFit/>
          </a:bodyPr>
          <a:lstStyle/>
          <a:p>
            <a:pPr algn="ctr"/>
            <a:r>
              <a:rPr lang="vi-VN" sz="1800" b="0" i="0" u="none" strike="noStrike" dirty="0">
                <a:solidFill>
                  <a:srgbClr val="94A3B8"/>
                </a:solidFill>
                <a:effectLst/>
              </a:rPr>
              <a:t>Phân tích ưu điểm, thách thức thực tế và xu thế phát triển an ninh mạng toàn cầu</a:t>
            </a:r>
            <a:endParaRPr lang="vi-VN" dirty="0"/>
          </a:p>
        </p:txBody>
      </p:sp>
    </p:spTree>
    <p:extLst>
      <p:ext uri="{BB962C8B-B14F-4D97-AF65-F5344CB8AC3E}">
        <p14:creationId xmlns:p14="http://schemas.microsoft.com/office/powerpoint/2010/main" val="3348135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434A34B-33BF-16B3-5A0B-7ED62B2C6649}"/>
              </a:ext>
            </a:extLst>
          </p:cNvPr>
          <p:cNvSpPr>
            <a:spLocks noGrp="1"/>
          </p:cNvSpPr>
          <p:nvPr>
            <p:ph type="title"/>
          </p:nvPr>
        </p:nvSpPr>
        <p:spPr/>
        <p:txBody>
          <a:bodyPr>
            <a:normAutofit/>
          </a:bodyPr>
          <a:lstStyle/>
          <a:p>
            <a:r>
              <a:rPr lang="vi-VN" sz="3200" b="1" dirty="0">
                <a:latin typeface="+mn-lt"/>
              </a:rPr>
              <a:t>Ưu Điểm &amp; Thách Thức</a:t>
            </a:r>
            <a:endParaRPr lang="vi-VN" sz="3200" dirty="0">
              <a:latin typeface="+mn-lt"/>
            </a:endParaRPr>
          </a:p>
        </p:txBody>
      </p:sp>
      <p:pic>
        <p:nvPicPr>
          <p:cNvPr id="4" name="Chỗ dành sẵn cho Nội dung 3" descr="image.png">
            <a:extLst>
              <a:ext uri="{FF2B5EF4-FFF2-40B4-BE49-F238E27FC236}">
                <a16:creationId xmlns:a16="http://schemas.microsoft.com/office/drawing/2014/main" id="{7789BD13-0A98-0CE0-DB45-A231C443A2B1}"/>
              </a:ext>
            </a:extLst>
          </p:cNvPr>
          <p:cNvPicPr>
            <a:picLocks noGrp="1" noChangeAspect="1"/>
          </p:cNvPicPr>
          <p:nvPr>
            <p:ph idx="1"/>
          </p:nvPr>
        </p:nvPicPr>
        <p:blipFill>
          <a:blip r:embed="rId2"/>
          <a:stretch>
            <a:fillRect/>
          </a:stretch>
        </p:blipFill>
        <p:spPr>
          <a:xfrm>
            <a:off x="977900" y="1793056"/>
            <a:ext cx="228600" cy="238125"/>
          </a:xfrm>
          <a:prstGeom prst="rect">
            <a:avLst/>
          </a:prstGeom>
        </p:spPr>
      </p:pic>
      <p:pic>
        <p:nvPicPr>
          <p:cNvPr id="5" name="Hình ảnh 4" descr="image.png">
            <a:extLst>
              <a:ext uri="{FF2B5EF4-FFF2-40B4-BE49-F238E27FC236}">
                <a16:creationId xmlns:a16="http://schemas.microsoft.com/office/drawing/2014/main" id="{4A3D521D-5FF4-491E-F726-21CA44EAA5C1}"/>
              </a:ext>
            </a:extLst>
          </p:cNvPr>
          <p:cNvPicPr>
            <a:picLocks noChangeAspect="1"/>
          </p:cNvPicPr>
          <p:nvPr/>
        </p:nvPicPr>
        <p:blipFill>
          <a:blip r:embed="rId3"/>
          <a:stretch>
            <a:fillRect/>
          </a:stretch>
        </p:blipFill>
        <p:spPr>
          <a:xfrm>
            <a:off x="977900" y="3955484"/>
            <a:ext cx="228600" cy="238125"/>
          </a:xfrm>
          <a:prstGeom prst="rect">
            <a:avLst/>
          </a:prstGeom>
        </p:spPr>
      </p:pic>
      <p:sp>
        <p:nvSpPr>
          <p:cNvPr id="8" name="Hộp Văn bản 7">
            <a:extLst>
              <a:ext uri="{FF2B5EF4-FFF2-40B4-BE49-F238E27FC236}">
                <a16:creationId xmlns:a16="http://schemas.microsoft.com/office/drawing/2014/main" id="{0D4E6C30-B9E6-23C9-6915-6F256C484729}"/>
              </a:ext>
            </a:extLst>
          </p:cNvPr>
          <p:cNvSpPr txBox="1"/>
          <p:nvPr/>
        </p:nvSpPr>
        <p:spPr>
          <a:xfrm>
            <a:off x="1388534" y="1686470"/>
            <a:ext cx="2277533" cy="923330"/>
          </a:xfrm>
          <a:prstGeom prst="rect">
            <a:avLst/>
          </a:prstGeom>
          <a:noFill/>
        </p:spPr>
        <p:txBody>
          <a:bodyPr wrap="square">
            <a:spAutoFit/>
          </a:bodyPr>
          <a:lstStyle/>
          <a:p>
            <a:pPr rtl="0">
              <a:buNone/>
            </a:pPr>
            <a:r>
              <a:rPr lang="vi-VN" b="1" i="0" u="none" strike="noStrike" dirty="0">
                <a:solidFill>
                  <a:srgbClr val="00B0F0"/>
                </a:solidFill>
                <a:effectLst/>
              </a:rPr>
              <a:t>Ưu điểm vượt trội</a:t>
            </a:r>
            <a:endParaRPr lang="vi-VN" b="0" dirty="0">
              <a:solidFill>
                <a:srgbClr val="00B0F0"/>
              </a:solidFill>
              <a:effectLst/>
            </a:endParaRPr>
          </a:p>
          <a:p>
            <a:pPr>
              <a:buNone/>
            </a:pPr>
            <a:br>
              <a:rPr lang="vi-VN" dirty="0"/>
            </a:br>
            <a:endParaRPr lang="vi-VN" dirty="0"/>
          </a:p>
        </p:txBody>
      </p:sp>
      <p:sp>
        <p:nvSpPr>
          <p:cNvPr id="10" name="Hộp Văn bản 9">
            <a:extLst>
              <a:ext uri="{FF2B5EF4-FFF2-40B4-BE49-F238E27FC236}">
                <a16:creationId xmlns:a16="http://schemas.microsoft.com/office/drawing/2014/main" id="{88DCD877-E5A7-B060-5F71-8EFC0F4439BA}"/>
              </a:ext>
            </a:extLst>
          </p:cNvPr>
          <p:cNvSpPr txBox="1"/>
          <p:nvPr/>
        </p:nvSpPr>
        <p:spPr>
          <a:xfrm>
            <a:off x="1388534" y="3889881"/>
            <a:ext cx="2370666" cy="369332"/>
          </a:xfrm>
          <a:prstGeom prst="rect">
            <a:avLst/>
          </a:prstGeom>
          <a:noFill/>
        </p:spPr>
        <p:txBody>
          <a:bodyPr wrap="square">
            <a:spAutoFit/>
          </a:bodyPr>
          <a:lstStyle/>
          <a:p>
            <a:r>
              <a:rPr lang="vi-VN" sz="1800" b="1" i="0" u="none" strike="noStrike" dirty="0">
                <a:solidFill>
                  <a:srgbClr val="00B0F0"/>
                </a:solidFill>
                <a:effectLst/>
              </a:rPr>
              <a:t>Thách thức kỹ thuật</a:t>
            </a:r>
            <a:endParaRPr lang="vi-VN" dirty="0">
              <a:solidFill>
                <a:srgbClr val="00B0F0"/>
              </a:solidFill>
            </a:endParaRPr>
          </a:p>
        </p:txBody>
      </p:sp>
      <p:sp>
        <p:nvSpPr>
          <p:cNvPr id="12" name="Hộp Văn bản 11">
            <a:extLst>
              <a:ext uri="{FF2B5EF4-FFF2-40B4-BE49-F238E27FC236}">
                <a16:creationId xmlns:a16="http://schemas.microsoft.com/office/drawing/2014/main" id="{F07B7A39-1F6E-A64C-EFF9-E107100B917E}"/>
              </a:ext>
            </a:extLst>
          </p:cNvPr>
          <p:cNvSpPr txBox="1"/>
          <p:nvPr/>
        </p:nvSpPr>
        <p:spPr>
          <a:xfrm>
            <a:off x="1388534" y="2148135"/>
            <a:ext cx="4809066" cy="1200329"/>
          </a:xfrm>
          <a:prstGeom prst="rect">
            <a:avLst/>
          </a:prstGeom>
          <a:noFill/>
        </p:spPr>
        <p:txBody>
          <a:bodyPr wrap="square">
            <a:spAutoFit/>
          </a:bodyPr>
          <a:lstStyle/>
          <a:p>
            <a:r>
              <a:rPr lang="vi-VN" sz="1800" b="0" i="0" u="none" strike="noStrike" dirty="0">
                <a:solidFill>
                  <a:srgbClr val="475569"/>
                </a:solidFill>
                <a:effectLst/>
                <a:latin typeface="Plus Jakarta Sans"/>
              </a:rPr>
              <a:t>Đạt mức bảo mật vật lý tuyệt đối chống lại mọi hành vi thám mã. Có khả năng giám sát và phát hiện xâm nhập theo thời gian thực để lập tức hủy bỏ luồng thông tin bị rò rỉ.</a:t>
            </a:r>
            <a:endParaRPr lang="vi-VN" dirty="0"/>
          </a:p>
        </p:txBody>
      </p:sp>
      <p:sp>
        <p:nvSpPr>
          <p:cNvPr id="14" name="Hộp Văn bản 13">
            <a:extLst>
              <a:ext uri="{FF2B5EF4-FFF2-40B4-BE49-F238E27FC236}">
                <a16:creationId xmlns:a16="http://schemas.microsoft.com/office/drawing/2014/main" id="{97939C92-56F3-9B25-BBE1-41B565366D10}"/>
              </a:ext>
            </a:extLst>
          </p:cNvPr>
          <p:cNvSpPr txBox="1"/>
          <p:nvPr/>
        </p:nvSpPr>
        <p:spPr>
          <a:xfrm>
            <a:off x="1388534" y="4432866"/>
            <a:ext cx="4809066" cy="1477328"/>
          </a:xfrm>
          <a:prstGeom prst="rect">
            <a:avLst/>
          </a:prstGeom>
          <a:noFill/>
        </p:spPr>
        <p:txBody>
          <a:bodyPr wrap="square">
            <a:spAutoFit/>
          </a:bodyPr>
          <a:lstStyle/>
          <a:p>
            <a:r>
              <a:rPr lang="vi-VN" sz="1800" b="0" i="0" u="none" strike="noStrike" dirty="0">
                <a:solidFill>
                  <a:srgbClr val="475569"/>
                </a:solidFill>
                <a:effectLst/>
                <a:latin typeface="Plus Jakarta Sans"/>
              </a:rPr>
              <a:t>Chi phí thiết bị siêu đắt đỏ. Khoảng cách truyền bị giới hạn bởi hiện tượng suy hao ánh sáng trên sợi quang (tối đa khoảng 400-500km) và tín hiệu lượng tử không thể khuếch đại bằng thiết bị thông thường</a:t>
            </a:r>
            <a:endParaRPr lang="vi-VN" dirty="0"/>
          </a:p>
        </p:txBody>
      </p:sp>
      <p:pic>
        <p:nvPicPr>
          <p:cNvPr id="15" name="Hình ảnh 14" descr="image.png">
            <a:extLst>
              <a:ext uri="{FF2B5EF4-FFF2-40B4-BE49-F238E27FC236}">
                <a16:creationId xmlns:a16="http://schemas.microsoft.com/office/drawing/2014/main" id="{720EC385-773A-7EA3-F51F-967F5D2720C9}"/>
              </a:ext>
            </a:extLst>
          </p:cNvPr>
          <p:cNvPicPr>
            <a:picLocks noChangeAspect="1"/>
          </p:cNvPicPr>
          <p:nvPr/>
        </p:nvPicPr>
        <p:blipFill>
          <a:blip r:embed="rId4"/>
          <a:stretch>
            <a:fillRect/>
          </a:stretch>
        </p:blipFill>
        <p:spPr>
          <a:xfrm>
            <a:off x="6781800" y="679450"/>
            <a:ext cx="4572000" cy="5143500"/>
          </a:xfrm>
          <a:prstGeom prst="rect">
            <a:avLst/>
          </a:prstGeom>
        </p:spPr>
      </p:pic>
    </p:spTree>
    <p:extLst>
      <p:ext uri="{BB962C8B-B14F-4D97-AF65-F5344CB8AC3E}">
        <p14:creationId xmlns:p14="http://schemas.microsoft.com/office/powerpoint/2010/main" val="3824622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B7EB3AF-7626-A50E-7C21-C9510F1C66BD}"/>
              </a:ext>
            </a:extLst>
          </p:cNvPr>
          <p:cNvSpPr>
            <a:spLocks noGrp="1"/>
          </p:cNvSpPr>
          <p:nvPr>
            <p:ph type="title"/>
          </p:nvPr>
        </p:nvSpPr>
        <p:spPr/>
        <p:txBody>
          <a:bodyPr>
            <a:normAutofit/>
          </a:bodyPr>
          <a:lstStyle/>
          <a:p>
            <a:r>
              <a:rPr lang="vi-VN" sz="3200" b="1"/>
              <a:t>Định Hướng Phát Triển Tương Lai</a:t>
            </a:r>
            <a:endParaRPr lang="vi-VN" sz="3200" dirty="0"/>
          </a:p>
        </p:txBody>
      </p:sp>
      <p:pic>
        <p:nvPicPr>
          <p:cNvPr id="4" name="Chỗ dành sẵn cho Nội dung 3" descr="image.png">
            <a:extLst>
              <a:ext uri="{FF2B5EF4-FFF2-40B4-BE49-F238E27FC236}">
                <a16:creationId xmlns:a16="http://schemas.microsoft.com/office/drawing/2014/main" id="{D8435C56-15CC-5A88-D88E-4999BEBBADFA}"/>
              </a:ext>
            </a:extLst>
          </p:cNvPr>
          <p:cNvPicPr>
            <a:picLocks noGrp="1" noChangeAspect="1"/>
          </p:cNvPicPr>
          <p:nvPr>
            <p:ph idx="1"/>
          </p:nvPr>
        </p:nvPicPr>
        <p:blipFill>
          <a:blip r:embed="rId2"/>
          <a:stretch>
            <a:fillRect/>
          </a:stretch>
        </p:blipFill>
        <p:spPr>
          <a:xfrm>
            <a:off x="665692" y="2826014"/>
            <a:ext cx="5238750" cy="2486025"/>
          </a:xfrm>
          <a:prstGeom prst="rect">
            <a:avLst/>
          </a:prstGeom>
        </p:spPr>
      </p:pic>
      <p:pic>
        <p:nvPicPr>
          <p:cNvPr id="5" name="Hình ảnh 4" descr="image.png">
            <a:extLst>
              <a:ext uri="{FF2B5EF4-FFF2-40B4-BE49-F238E27FC236}">
                <a16:creationId xmlns:a16="http://schemas.microsoft.com/office/drawing/2014/main" id="{20D0DA30-5476-B49E-86FA-0C802BA08F78}"/>
              </a:ext>
            </a:extLst>
          </p:cNvPr>
          <p:cNvPicPr>
            <a:picLocks noChangeAspect="1"/>
          </p:cNvPicPr>
          <p:nvPr/>
        </p:nvPicPr>
        <p:blipFill>
          <a:blip r:embed="rId2"/>
          <a:stretch>
            <a:fillRect/>
          </a:stretch>
        </p:blipFill>
        <p:spPr>
          <a:xfrm>
            <a:off x="6287560" y="2826014"/>
            <a:ext cx="5238750" cy="2486025"/>
          </a:xfrm>
          <a:prstGeom prst="rect">
            <a:avLst/>
          </a:prstGeom>
        </p:spPr>
      </p:pic>
      <p:sp>
        <p:nvSpPr>
          <p:cNvPr id="7" name="Hộp Văn bản 6">
            <a:extLst>
              <a:ext uri="{FF2B5EF4-FFF2-40B4-BE49-F238E27FC236}">
                <a16:creationId xmlns:a16="http://schemas.microsoft.com/office/drawing/2014/main" id="{4D8ACA3A-4ED0-A9C8-140D-A2947A947B08}"/>
              </a:ext>
            </a:extLst>
          </p:cNvPr>
          <p:cNvSpPr txBox="1"/>
          <p:nvPr/>
        </p:nvSpPr>
        <p:spPr>
          <a:xfrm>
            <a:off x="665691" y="2998800"/>
            <a:ext cx="5238752" cy="369332"/>
          </a:xfrm>
          <a:prstGeom prst="rect">
            <a:avLst/>
          </a:prstGeom>
          <a:noFill/>
        </p:spPr>
        <p:txBody>
          <a:bodyPr wrap="square">
            <a:spAutoFit/>
          </a:bodyPr>
          <a:lstStyle/>
          <a:p>
            <a:pPr algn="ctr"/>
            <a:r>
              <a:rPr lang="vi-VN" sz="1800" b="1" i="0" u="none" strike="noStrike" dirty="0">
                <a:solidFill>
                  <a:srgbClr val="00F2FE"/>
                </a:solidFill>
                <a:effectLst/>
                <a:latin typeface="Space Grotesk"/>
              </a:rPr>
              <a:t>Vệ Tinh Lượng Tử</a:t>
            </a:r>
            <a:endParaRPr lang="vi-VN" dirty="0"/>
          </a:p>
        </p:txBody>
      </p:sp>
      <p:sp>
        <p:nvSpPr>
          <p:cNvPr id="9" name="Hộp Văn bản 8">
            <a:extLst>
              <a:ext uri="{FF2B5EF4-FFF2-40B4-BE49-F238E27FC236}">
                <a16:creationId xmlns:a16="http://schemas.microsoft.com/office/drawing/2014/main" id="{D3505FF7-9DB3-8BF8-B2B7-00BFC3E44169}"/>
              </a:ext>
            </a:extLst>
          </p:cNvPr>
          <p:cNvSpPr txBox="1"/>
          <p:nvPr/>
        </p:nvSpPr>
        <p:spPr>
          <a:xfrm>
            <a:off x="6287556" y="2998800"/>
            <a:ext cx="5238752" cy="369332"/>
          </a:xfrm>
          <a:prstGeom prst="rect">
            <a:avLst/>
          </a:prstGeom>
          <a:noFill/>
        </p:spPr>
        <p:txBody>
          <a:bodyPr wrap="square">
            <a:spAutoFit/>
          </a:bodyPr>
          <a:lstStyle/>
          <a:p>
            <a:pPr algn="ctr"/>
            <a:r>
              <a:rPr lang="vi-VN" sz="1800" b="1" i="0" u="none" strike="noStrike" dirty="0">
                <a:solidFill>
                  <a:srgbClr val="00F2FE"/>
                </a:solidFill>
                <a:effectLst/>
                <a:latin typeface="Space Grotesk"/>
              </a:rPr>
              <a:t>Tích Hợp AI &amp; </a:t>
            </a:r>
            <a:r>
              <a:rPr lang="vi-VN" sz="1800" b="1" i="0" u="none" strike="noStrike" dirty="0" err="1">
                <a:solidFill>
                  <a:srgbClr val="00F2FE"/>
                </a:solidFill>
                <a:effectLst/>
                <a:latin typeface="Space Grotesk"/>
              </a:rPr>
              <a:t>IoT</a:t>
            </a:r>
            <a:endParaRPr lang="vi-VN" dirty="0"/>
          </a:p>
        </p:txBody>
      </p:sp>
      <p:sp>
        <p:nvSpPr>
          <p:cNvPr id="11" name="Hộp Văn bản 10">
            <a:extLst>
              <a:ext uri="{FF2B5EF4-FFF2-40B4-BE49-F238E27FC236}">
                <a16:creationId xmlns:a16="http://schemas.microsoft.com/office/drawing/2014/main" id="{F7F24532-5DAD-928D-FC7F-B3BD6DC0D882}"/>
              </a:ext>
            </a:extLst>
          </p:cNvPr>
          <p:cNvSpPr txBox="1"/>
          <p:nvPr/>
        </p:nvSpPr>
        <p:spPr>
          <a:xfrm>
            <a:off x="880534" y="3540918"/>
            <a:ext cx="4809066" cy="1200329"/>
          </a:xfrm>
          <a:prstGeom prst="rect">
            <a:avLst/>
          </a:prstGeom>
          <a:noFill/>
        </p:spPr>
        <p:txBody>
          <a:bodyPr wrap="square">
            <a:spAutoFit/>
          </a:bodyPr>
          <a:lstStyle/>
          <a:p>
            <a:r>
              <a:rPr lang="vi-VN" sz="1800" b="0" i="0" u="none" strike="noStrike" dirty="0">
                <a:solidFill>
                  <a:schemeClr val="bg1"/>
                </a:solidFill>
                <a:effectLst/>
              </a:rPr>
              <a:t>Sử dụng vệ tinh làm trạm lặp để phân phối khóa lượng tử qua không gian tự do, vượt qua ranh giới suy hao của đường truyền cáp đất thông thường, kết nối xuyên lục địa.</a:t>
            </a:r>
            <a:endParaRPr lang="vi-VN" dirty="0">
              <a:solidFill>
                <a:schemeClr val="bg1"/>
              </a:solidFill>
            </a:endParaRPr>
          </a:p>
        </p:txBody>
      </p:sp>
      <p:sp>
        <p:nvSpPr>
          <p:cNvPr id="13" name="Hộp Văn bản 12">
            <a:extLst>
              <a:ext uri="{FF2B5EF4-FFF2-40B4-BE49-F238E27FC236}">
                <a16:creationId xmlns:a16="http://schemas.microsoft.com/office/drawing/2014/main" id="{C3A212CC-341C-1E91-18F3-F20C0FE9D6BC}"/>
              </a:ext>
            </a:extLst>
          </p:cNvPr>
          <p:cNvSpPr txBox="1"/>
          <p:nvPr/>
        </p:nvSpPr>
        <p:spPr>
          <a:xfrm>
            <a:off x="6468532" y="3540918"/>
            <a:ext cx="4885267" cy="1200329"/>
          </a:xfrm>
          <a:prstGeom prst="rect">
            <a:avLst/>
          </a:prstGeom>
          <a:noFill/>
        </p:spPr>
        <p:txBody>
          <a:bodyPr wrap="square">
            <a:spAutoFit/>
          </a:bodyPr>
          <a:lstStyle/>
          <a:p>
            <a:r>
              <a:rPr lang="vi-VN" sz="1800" b="0" i="0" u="none" strike="noStrike" dirty="0">
                <a:solidFill>
                  <a:schemeClr val="bg1"/>
                </a:solidFill>
                <a:effectLst/>
              </a:rPr>
              <a:t>Kết hợp mật mã lượng tử với trí tuệ nhân tạo (AI), điện toán đám mây và </a:t>
            </a:r>
            <a:r>
              <a:rPr lang="vi-VN" sz="1800" b="0" i="0" u="none" strike="noStrike" dirty="0" err="1">
                <a:solidFill>
                  <a:schemeClr val="bg1"/>
                </a:solidFill>
                <a:effectLst/>
              </a:rPr>
              <a:t>Internet</a:t>
            </a:r>
            <a:r>
              <a:rPr lang="vi-VN" sz="1800" b="0" i="0" u="none" strike="noStrike" dirty="0">
                <a:solidFill>
                  <a:schemeClr val="bg1"/>
                </a:solidFill>
                <a:effectLst/>
              </a:rPr>
              <a:t> vạn vật để tự động hóa phát hiện rủi ro và tăng cường độ tin cậy của mạng an toàn bảo mật.</a:t>
            </a:r>
            <a:endParaRPr lang="vi-VN" dirty="0">
              <a:solidFill>
                <a:schemeClr val="bg1"/>
              </a:solidFill>
            </a:endParaRPr>
          </a:p>
        </p:txBody>
      </p:sp>
    </p:spTree>
    <p:extLst>
      <p:ext uri="{BB962C8B-B14F-4D97-AF65-F5344CB8AC3E}">
        <p14:creationId xmlns:p14="http://schemas.microsoft.com/office/powerpoint/2010/main" val="3256266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7B0AE4B-3566-A30D-F636-1EB267DF0AE2}"/>
              </a:ext>
            </a:extLst>
          </p:cNvPr>
          <p:cNvSpPr>
            <a:spLocks noGrp="1"/>
          </p:cNvSpPr>
          <p:nvPr>
            <p:ph type="title"/>
          </p:nvPr>
        </p:nvSpPr>
        <p:spPr>
          <a:xfrm>
            <a:off x="948267" y="764645"/>
            <a:ext cx="2150533" cy="1325563"/>
          </a:xfrm>
        </p:spPr>
        <p:txBody>
          <a:bodyPr>
            <a:normAutofit/>
          </a:bodyPr>
          <a:lstStyle/>
          <a:p>
            <a:r>
              <a:rPr lang="vi-VN" sz="3200" b="1" dirty="0">
                <a:latin typeface="+mn-lt"/>
              </a:rPr>
              <a:t>Kết Luận</a:t>
            </a:r>
            <a:endParaRPr lang="vi-VN" sz="3200" dirty="0">
              <a:latin typeface="+mn-lt"/>
            </a:endParaRPr>
          </a:p>
        </p:txBody>
      </p:sp>
      <p:pic>
        <p:nvPicPr>
          <p:cNvPr id="4" name="Chỗ dành sẵn cho Nội dung 3" descr="image.png">
            <a:extLst>
              <a:ext uri="{FF2B5EF4-FFF2-40B4-BE49-F238E27FC236}">
                <a16:creationId xmlns:a16="http://schemas.microsoft.com/office/drawing/2014/main" id="{84C5AE10-6E59-0E84-4715-390C62D3AA7E}"/>
              </a:ext>
            </a:extLst>
          </p:cNvPr>
          <p:cNvPicPr>
            <a:picLocks noGrp="1" noChangeAspect="1"/>
          </p:cNvPicPr>
          <p:nvPr>
            <p:ph idx="1"/>
          </p:nvPr>
        </p:nvPicPr>
        <p:blipFill>
          <a:blip r:embed="rId2"/>
          <a:stretch>
            <a:fillRect/>
          </a:stretch>
        </p:blipFill>
        <p:spPr>
          <a:xfrm>
            <a:off x="479425" y="2944548"/>
            <a:ext cx="5238750" cy="2486025"/>
          </a:xfrm>
          <a:prstGeom prst="rect">
            <a:avLst/>
          </a:prstGeom>
        </p:spPr>
      </p:pic>
      <p:pic>
        <p:nvPicPr>
          <p:cNvPr id="5" name="Hình ảnh 4" descr="image.png">
            <a:extLst>
              <a:ext uri="{FF2B5EF4-FFF2-40B4-BE49-F238E27FC236}">
                <a16:creationId xmlns:a16="http://schemas.microsoft.com/office/drawing/2014/main" id="{ACFC1842-A3BE-30F5-CFF9-06D40BDBB3CD}"/>
              </a:ext>
            </a:extLst>
          </p:cNvPr>
          <p:cNvPicPr>
            <a:picLocks noChangeAspect="1"/>
          </p:cNvPicPr>
          <p:nvPr/>
        </p:nvPicPr>
        <p:blipFill>
          <a:blip r:embed="rId2"/>
          <a:stretch>
            <a:fillRect/>
          </a:stretch>
        </p:blipFill>
        <p:spPr>
          <a:xfrm>
            <a:off x="6473824" y="2967335"/>
            <a:ext cx="5238750" cy="2486025"/>
          </a:xfrm>
          <a:prstGeom prst="rect">
            <a:avLst/>
          </a:prstGeom>
        </p:spPr>
      </p:pic>
      <p:sp>
        <p:nvSpPr>
          <p:cNvPr id="7" name="Hộp Văn bản 6">
            <a:extLst>
              <a:ext uri="{FF2B5EF4-FFF2-40B4-BE49-F238E27FC236}">
                <a16:creationId xmlns:a16="http://schemas.microsoft.com/office/drawing/2014/main" id="{B1359930-C9E0-5652-671A-9041B9A10869}"/>
              </a:ext>
            </a:extLst>
          </p:cNvPr>
          <p:cNvSpPr txBox="1"/>
          <p:nvPr/>
        </p:nvSpPr>
        <p:spPr>
          <a:xfrm>
            <a:off x="479426" y="3244334"/>
            <a:ext cx="5238750" cy="369332"/>
          </a:xfrm>
          <a:prstGeom prst="rect">
            <a:avLst/>
          </a:prstGeom>
          <a:noFill/>
        </p:spPr>
        <p:txBody>
          <a:bodyPr wrap="square">
            <a:spAutoFit/>
          </a:bodyPr>
          <a:lstStyle/>
          <a:p>
            <a:pPr algn="ctr"/>
            <a:r>
              <a:rPr lang="vi-VN" sz="1800" b="1" i="0" u="none" strike="noStrike" dirty="0">
                <a:solidFill>
                  <a:srgbClr val="00F2FE"/>
                </a:solidFill>
                <a:effectLst/>
                <a:latin typeface="Space Grotesk"/>
              </a:rPr>
              <a:t>Bước Đột Phá Lớn</a:t>
            </a:r>
            <a:endParaRPr lang="vi-VN" dirty="0"/>
          </a:p>
        </p:txBody>
      </p:sp>
      <p:sp>
        <p:nvSpPr>
          <p:cNvPr id="9" name="Hộp Văn bản 8">
            <a:extLst>
              <a:ext uri="{FF2B5EF4-FFF2-40B4-BE49-F238E27FC236}">
                <a16:creationId xmlns:a16="http://schemas.microsoft.com/office/drawing/2014/main" id="{BD04C356-9CF3-95FB-6C4C-4DFC9A5012BE}"/>
              </a:ext>
            </a:extLst>
          </p:cNvPr>
          <p:cNvSpPr txBox="1"/>
          <p:nvPr/>
        </p:nvSpPr>
        <p:spPr>
          <a:xfrm>
            <a:off x="6473825" y="3244334"/>
            <a:ext cx="5238750" cy="369332"/>
          </a:xfrm>
          <a:prstGeom prst="rect">
            <a:avLst/>
          </a:prstGeom>
          <a:noFill/>
        </p:spPr>
        <p:txBody>
          <a:bodyPr wrap="square">
            <a:spAutoFit/>
          </a:bodyPr>
          <a:lstStyle/>
          <a:p>
            <a:pPr algn="ctr"/>
            <a:r>
              <a:rPr lang="vi-VN" sz="1800" b="1" i="0" u="none" strike="noStrike" dirty="0">
                <a:solidFill>
                  <a:srgbClr val="00F2FE"/>
                </a:solidFill>
                <a:effectLst/>
                <a:latin typeface="Space Grotesk"/>
              </a:rPr>
              <a:t>Tương Lai An Toàn Số</a:t>
            </a:r>
            <a:endParaRPr lang="vi-VN" dirty="0"/>
          </a:p>
        </p:txBody>
      </p:sp>
      <p:sp>
        <p:nvSpPr>
          <p:cNvPr id="11" name="Hộp Văn bản 10">
            <a:extLst>
              <a:ext uri="{FF2B5EF4-FFF2-40B4-BE49-F238E27FC236}">
                <a16:creationId xmlns:a16="http://schemas.microsoft.com/office/drawing/2014/main" id="{7EEFA8AA-4237-4FE1-83D7-63DD967721AE}"/>
              </a:ext>
            </a:extLst>
          </p:cNvPr>
          <p:cNvSpPr txBox="1"/>
          <p:nvPr/>
        </p:nvSpPr>
        <p:spPr>
          <a:xfrm>
            <a:off x="728133" y="3613666"/>
            <a:ext cx="4741334" cy="1477328"/>
          </a:xfrm>
          <a:prstGeom prst="rect">
            <a:avLst/>
          </a:prstGeom>
          <a:noFill/>
        </p:spPr>
        <p:txBody>
          <a:bodyPr wrap="square">
            <a:spAutoFit/>
          </a:bodyPr>
          <a:lstStyle/>
          <a:p>
            <a:r>
              <a:rPr lang="vi-VN" sz="1800" b="0" i="0" u="none" strike="noStrike">
                <a:solidFill>
                  <a:schemeClr val="bg1"/>
                </a:solidFill>
                <a:effectLst/>
              </a:rPr>
              <a:t>Hệ mật mã lượng tử và Giao thức BB84 mang lại sự đột phá vượt bậc, dịch chuyển hệ thống an ninh từ bảo mật tính toán toán học sang bảo mật dựa vào định luật vật lý bất biến.</a:t>
            </a:r>
            <a:endParaRPr lang="vi-VN" dirty="0">
              <a:solidFill>
                <a:schemeClr val="bg1"/>
              </a:solidFill>
            </a:endParaRPr>
          </a:p>
        </p:txBody>
      </p:sp>
      <p:sp>
        <p:nvSpPr>
          <p:cNvPr id="13" name="Hộp Văn bản 12">
            <a:extLst>
              <a:ext uri="{FF2B5EF4-FFF2-40B4-BE49-F238E27FC236}">
                <a16:creationId xmlns:a16="http://schemas.microsoft.com/office/drawing/2014/main" id="{65961C8A-2CF1-EA32-59D3-2717171D73DE}"/>
              </a:ext>
            </a:extLst>
          </p:cNvPr>
          <p:cNvSpPr txBox="1"/>
          <p:nvPr/>
        </p:nvSpPr>
        <p:spPr>
          <a:xfrm>
            <a:off x="6794499" y="3613666"/>
            <a:ext cx="4597400" cy="1477328"/>
          </a:xfrm>
          <a:prstGeom prst="rect">
            <a:avLst/>
          </a:prstGeom>
          <a:noFill/>
        </p:spPr>
        <p:txBody>
          <a:bodyPr wrap="square">
            <a:spAutoFit/>
          </a:bodyPr>
          <a:lstStyle/>
          <a:p>
            <a:r>
              <a:rPr lang="vi-VN" sz="1800" b="0" i="0" u="none" strike="noStrike" dirty="0">
                <a:solidFill>
                  <a:schemeClr val="bg1"/>
                </a:solidFill>
                <a:effectLst/>
              </a:rPr>
              <a:t>Việc làm chủ và triển khai hệ mật mã này đóng vai trò quyết định trong chiến lược bảo vệ an ninh thông tin, tài sản số quốc gia trước làn sóng cách mạng lượng tử sắp tới.</a:t>
            </a:r>
            <a:endParaRPr lang="vi-VN" dirty="0">
              <a:solidFill>
                <a:schemeClr val="bg1"/>
              </a:solidFill>
            </a:endParaRPr>
          </a:p>
        </p:txBody>
      </p:sp>
    </p:spTree>
    <p:extLst>
      <p:ext uri="{BB962C8B-B14F-4D97-AF65-F5344CB8AC3E}">
        <p14:creationId xmlns:p14="http://schemas.microsoft.com/office/powerpoint/2010/main" val="2567041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AE612A8-A9C7-2685-6114-04C9AEA185D8}"/>
              </a:ext>
            </a:extLst>
          </p:cNvPr>
          <p:cNvSpPr>
            <a:spLocks noGrp="1"/>
          </p:cNvSpPr>
          <p:nvPr>
            <p:ph type="title"/>
          </p:nvPr>
        </p:nvSpPr>
        <p:spPr/>
        <p:txBody>
          <a:bodyPr/>
          <a:lstStyle/>
          <a:p>
            <a:endParaRPr lang="vi-VN" dirty="0"/>
          </a:p>
        </p:txBody>
      </p:sp>
      <p:sp>
        <p:nvSpPr>
          <p:cNvPr id="3" name="Chỗ dành sẵn cho Nội dung 2">
            <a:extLst>
              <a:ext uri="{FF2B5EF4-FFF2-40B4-BE49-F238E27FC236}">
                <a16:creationId xmlns:a16="http://schemas.microsoft.com/office/drawing/2014/main" id="{35347059-C946-D59B-EDD1-94C6773CC69E}"/>
              </a:ext>
            </a:extLst>
          </p:cNvPr>
          <p:cNvSpPr>
            <a:spLocks noGrp="1"/>
          </p:cNvSpPr>
          <p:nvPr>
            <p:ph idx="1"/>
          </p:nvPr>
        </p:nvSpPr>
        <p:spPr/>
        <p:txBody>
          <a:bodyPr/>
          <a:lstStyle/>
          <a:p>
            <a:endParaRPr lang="vi-VN"/>
          </a:p>
        </p:txBody>
      </p:sp>
      <p:pic>
        <p:nvPicPr>
          <p:cNvPr id="4" name="Hình ảnh 3" descr="image.png">
            <a:extLst>
              <a:ext uri="{FF2B5EF4-FFF2-40B4-BE49-F238E27FC236}">
                <a16:creationId xmlns:a16="http://schemas.microsoft.com/office/drawing/2014/main" id="{429A30C4-CC90-F2F5-8B72-0E5628BB318C}"/>
              </a:ext>
            </a:extLst>
          </p:cNvPr>
          <p:cNvPicPr>
            <a:picLocks noChangeAspect="1"/>
          </p:cNvPicPr>
          <p:nvPr/>
        </p:nvPicPr>
        <p:blipFill>
          <a:blip r:embed="rId2"/>
          <a:stretch>
            <a:fillRect/>
          </a:stretch>
        </p:blipFill>
        <p:spPr>
          <a:xfrm>
            <a:off x="838200" y="404283"/>
            <a:ext cx="10515600" cy="5772150"/>
          </a:xfrm>
          <a:prstGeom prst="rect">
            <a:avLst/>
          </a:prstGeom>
        </p:spPr>
      </p:pic>
      <p:sp>
        <p:nvSpPr>
          <p:cNvPr id="6" name="Hộp Văn bản 5">
            <a:extLst>
              <a:ext uri="{FF2B5EF4-FFF2-40B4-BE49-F238E27FC236}">
                <a16:creationId xmlns:a16="http://schemas.microsoft.com/office/drawing/2014/main" id="{55318F5A-8095-59A5-D591-9B76AD0D0CD2}"/>
              </a:ext>
            </a:extLst>
          </p:cNvPr>
          <p:cNvSpPr txBox="1"/>
          <p:nvPr/>
        </p:nvSpPr>
        <p:spPr>
          <a:xfrm>
            <a:off x="1193800" y="1729846"/>
            <a:ext cx="9931400" cy="769441"/>
          </a:xfrm>
          <a:prstGeom prst="rect">
            <a:avLst/>
          </a:prstGeom>
          <a:noFill/>
        </p:spPr>
        <p:txBody>
          <a:bodyPr wrap="square">
            <a:spAutoFit/>
          </a:bodyPr>
          <a:lstStyle/>
          <a:p>
            <a:pPr algn="ctr"/>
            <a:r>
              <a:rPr lang="vi-VN" sz="4400" b="1" i="0" u="none" strike="noStrike" dirty="0">
                <a:solidFill>
                  <a:srgbClr val="FFFFFF"/>
                </a:solidFill>
                <a:effectLst/>
              </a:rPr>
              <a:t>Xin Chân Thành Cảm Ơn!</a:t>
            </a:r>
            <a:endParaRPr lang="vi-VN" sz="4400" dirty="0"/>
          </a:p>
        </p:txBody>
      </p:sp>
      <p:sp>
        <p:nvSpPr>
          <p:cNvPr id="8" name="Hộp Văn bản 7">
            <a:extLst>
              <a:ext uri="{FF2B5EF4-FFF2-40B4-BE49-F238E27FC236}">
                <a16:creationId xmlns:a16="http://schemas.microsoft.com/office/drawing/2014/main" id="{D2402B82-A12E-CD6B-F4FC-D3A09AA6BB1A}"/>
              </a:ext>
            </a:extLst>
          </p:cNvPr>
          <p:cNvSpPr txBox="1"/>
          <p:nvPr/>
        </p:nvSpPr>
        <p:spPr>
          <a:xfrm>
            <a:off x="1773767" y="2786624"/>
            <a:ext cx="8771466" cy="369332"/>
          </a:xfrm>
          <a:prstGeom prst="rect">
            <a:avLst/>
          </a:prstGeom>
          <a:noFill/>
        </p:spPr>
        <p:txBody>
          <a:bodyPr wrap="square">
            <a:spAutoFit/>
          </a:bodyPr>
          <a:lstStyle/>
          <a:p>
            <a:pPr algn="ctr"/>
            <a:r>
              <a:rPr lang="vi-VN" sz="1800" b="0" i="0" u="none" strike="noStrike" dirty="0">
                <a:solidFill>
                  <a:schemeClr val="bg1"/>
                </a:solidFill>
                <a:effectLst/>
              </a:rPr>
              <a:t>Hệ Mật Mã Lượng Tử &amp; Giao Thức BB84 - Bảo mật tuyệt đối cho tương lai số</a:t>
            </a:r>
            <a:endParaRPr lang="vi-VN" dirty="0">
              <a:solidFill>
                <a:schemeClr val="bg1"/>
              </a:solidFill>
            </a:endParaRPr>
          </a:p>
        </p:txBody>
      </p:sp>
      <p:sp>
        <p:nvSpPr>
          <p:cNvPr id="10" name="Hộp Văn bản 9">
            <a:extLst>
              <a:ext uri="{FF2B5EF4-FFF2-40B4-BE49-F238E27FC236}">
                <a16:creationId xmlns:a16="http://schemas.microsoft.com/office/drawing/2014/main" id="{A72BF92F-5CC8-1803-8C83-7BF4554FD31D}"/>
              </a:ext>
            </a:extLst>
          </p:cNvPr>
          <p:cNvSpPr txBox="1"/>
          <p:nvPr/>
        </p:nvSpPr>
        <p:spPr>
          <a:xfrm>
            <a:off x="2451100" y="3937750"/>
            <a:ext cx="7416799" cy="400110"/>
          </a:xfrm>
          <a:prstGeom prst="rect">
            <a:avLst/>
          </a:prstGeom>
          <a:noFill/>
        </p:spPr>
        <p:txBody>
          <a:bodyPr wrap="square">
            <a:spAutoFit/>
          </a:bodyPr>
          <a:lstStyle/>
          <a:p>
            <a:pPr algn="ctr"/>
            <a:r>
              <a:rPr lang="vi-VN" sz="2000" b="1" i="0" u="none" strike="noStrike" dirty="0">
                <a:solidFill>
                  <a:srgbClr val="00F2FE"/>
                </a:solidFill>
                <a:effectLst/>
              </a:rPr>
              <a:t>CÂU HỎI &amp; THẢO LUẬN</a:t>
            </a:r>
            <a:endParaRPr lang="vi-VN" sz="2000" dirty="0"/>
          </a:p>
        </p:txBody>
      </p:sp>
      <p:sp>
        <p:nvSpPr>
          <p:cNvPr id="12" name="Hộp Văn bản 11">
            <a:extLst>
              <a:ext uri="{FF2B5EF4-FFF2-40B4-BE49-F238E27FC236}">
                <a16:creationId xmlns:a16="http://schemas.microsoft.com/office/drawing/2014/main" id="{24131ECA-B8CE-6D22-CECE-11D0EB3FA0F5}"/>
              </a:ext>
            </a:extLst>
          </p:cNvPr>
          <p:cNvSpPr txBox="1"/>
          <p:nvPr/>
        </p:nvSpPr>
        <p:spPr>
          <a:xfrm>
            <a:off x="3111499" y="5369467"/>
            <a:ext cx="6096000" cy="369332"/>
          </a:xfrm>
          <a:prstGeom prst="rect">
            <a:avLst/>
          </a:prstGeom>
          <a:noFill/>
        </p:spPr>
        <p:txBody>
          <a:bodyPr wrap="square">
            <a:spAutoFit/>
          </a:bodyPr>
          <a:lstStyle/>
          <a:p>
            <a:pPr algn="ctr"/>
            <a:r>
              <a:rPr lang="vi-VN" sz="1800" b="0" i="0" u="none" strike="noStrike" dirty="0">
                <a:solidFill>
                  <a:srgbClr val="6B7280"/>
                </a:solidFill>
                <a:effectLst/>
                <a:latin typeface="Plus Jakarta Sans"/>
              </a:rPr>
              <a:t>Khoa Công nghệ thông tin - Trường Đại học Hải Phòng</a:t>
            </a:r>
            <a:endParaRPr lang="vi-VN" dirty="0"/>
          </a:p>
        </p:txBody>
      </p:sp>
    </p:spTree>
    <p:extLst>
      <p:ext uri="{BB962C8B-B14F-4D97-AF65-F5344CB8AC3E}">
        <p14:creationId xmlns:p14="http://schemas.microsoft.com/office/powerpoint/2010/main" val="31252660"/>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305</TotalTime>
  <Words>1953</Words>
  <Application>Microsoft Office PowerPoint</Application>
  <PresentationFormat>Màn hình rộng</PresentationFormat>
  <Paragraphs>142</Paragraphs>
  <Slides>23</Slides>
  <Notes>0</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23</vt:i4>
      </vt:variant>
    </vt:vector>
  </HeadingPairs>
  <TitlesOfParts>
    <vt:vector size="28" baseType="lpstr">
      <vt:lpstr>Plus Jakarta Sans</vt:lpstr>
      <vt:lpstr>Space Grotesk</vt:lpstr>
      <vt:lpstr>Arial</vt:lpstr>
      <vt:lpstr>Times New Roman</vt:lpstr>
      <vt:lpstr>Chủ đề Office</vt:lpstr>
      <vt:lpstr>   </vt:lpstr>
      <vt:lpstr>Bản trình bày PowerPoint</vt:lpstr>
      <vt:lpstr>Bản trình bày PowerPoint</vt:lpstr>
      <vt:lpstr>Bản trình bày PowerPoint</vt:lpstr>
      <vt:lpstr>Khái Niệm Hệ Mật Mã Lượng Tử</vt:lpstr>
      <vt:lpstr>Các Đặc Điểm Chính Của Hệ Thống</vt:lpstr>
      <vt:lpstr>So Sánh Mật Mã Cổ Điển &amp; Lượng Tử</vt:lpstr>
      <vt:lpstr>Vai Trò Và Ứng Dụng Thực Tế</vt:lpstr>
      <vt:lpstr>Bản trình bày PowerPoint</vt:lpstr>
      <vt:lpstr>Ba Nguyên Lý Lượng Tử Cốt Lõi</vt:lpstr>
      <vt:lpstr>Phân Phối Khóa QKD</vt:lpstr>
      <vt:lpstr>Lịch Sử Giao Thức BB84</vt:lpstr>
      <vt:lpstr>Bản trình bày PowerPoint</vt:lpstr>
      <vt:lpstr>Quy Trình BB84: Truyền Phát Photon</vt:lpstr>
      <vt:lpstr>Quy Trình BB84: Tạo Khóa Bí Mật</vt:lpstr>
      <vt:lpstr>Bản trình bày PowerPoint</vt:lpstr>
      <vt:lpstr>Yêu Cầu Thiết Bị Phần Cứng Công Nghệ </vt:lpstr>
      <vt:lpstr>Bản trình bày PowerPoint</vt:lpstr>
      <vt:lpstr>Bản trình bày PowerPoint</vt:lpstr>
      <vt:lpstr>Ưu Điểm &amp; Thách Thức</vt:lpstr>
      <vt:lpstr>Định Hướng Phát Triển Tương Lai</vt:lpstr>
      <vt:lpstr>Kết Luận</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Hồng Anh Phạm</dc:creator>
  <cp:lastModifiedBy>Hồng Anh Phạm</cp:lastModifiedBy>
  <cp:revision>1</cp:revision>
  <dcterms:created xsi:type="dcterms:W3CDTF">2026-06-30T23:07:34Z</dcterms:created>
  <dcterms:modified xsi:type="dcterms:W3CDTF">2026-07-01T04:13:13Z</dcterms:modified>
</cp:coreProperties>
</file>